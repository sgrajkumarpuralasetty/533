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316" r:id="rId4"/>
    <p:sldId id="317" r:id="rId5"/>
    <p:sldId id="287" r:id="rId6"/>
    <p:sldId id="310" r:id="rId7"/>
    <p:sldId id="306" r:id="rId8"/>
    <p:sldId id="302" r:id="rId9"/>
    <p:sldId id="315" r:id="rId10"/>
    <p:sldId id="299" r:id="rId11"/>
    <p:sldId id="318" r:id="rId12"/>
    <p:sldId id="258" r:id="rId13"/>
    <p:sldId id="260" r:id="rId14"/>
    <p:sldId id="259" r:id="rId15"/>
    <p:sldId id="301" r:id="rId16"/>
    <p:sldId id="288" r:id="rId17"/>
    <p:sldId id="313" r:id="rId18"/>
    <p:sldId id="312" r:id="rId19"/>
    <p:sldId id="311" r:id="rId20"/>
    <p:sldId id="309" r:id="rId21"/>
    <p:sldId id="308" r:id="rId22"/>
    <p:sldId id="307" r:id="rId23"/>
    <p:sldId id="321" r:id="rId24"/>
    <p:sldId id="320" r:id="rId25"/>
    <p:sldId id="305" r:id="rId26"/>
    <p:sldId id="304" r:id="rId27"/>
    <p:sldId id="303" r:id="rId28"/>
    <p:sldId id="298" r:id="rId29"/>
    <p:sldId id="296" r:id="rId30"/>
    <p:sldId id="295" r:id="rId31"/>
    <p:sldId id="294" r:id="rId32"/>
    <p:sldId id="293" r:id="rId33"/>
    <p:sldId id="292" r:id="rId34"/>
    <p:sldId id="290" r:id="rId35"/>
    <p:sldId id="286" r:id="rId36"/>
    <p:sldId id="289" r:id="rId37"/>
    <p:sldId id="314" r:id="rId38"/>
    <p:sldId id="300" r:id="rId39"/>
    <p:sldId id="297" r:id="rId40"/>
    <p:sldId id="291" r:id="rId41"/>
    <p:sldId id="322" r:id="rId42"/>
    <p:sldId id="323" r:id="rId43"/>
    <p:sldId id="324"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98" autoAdjust="0"/>
    <p:restoredTop sz="81726" autoAdjust="0"/>
  </p:normalViewPr>
  <p:slideViewPr>
    <p:cSldViewPr snapToGrid="0">
      <p:cViewPr varScale="1">
        <p:scale>
          <a:sx n="65" d="100"/>
          <a:sy n="65" d="100"/>
        </p:scale>
        <p:origin x="9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42DF3D-FD0F-4636-BFA7-082817D6A068}" type="datetimeFigureOut">
              <a:rPr lang="en-US" smtClean="0"/>
              <a:t>4/6/2017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3EC3BC-323F-4825-9756-369F4FD6B501}" type="slidenum">
              <a:rPr lang="en-US" smtClean="0"/>
              <a:t>‹#›</a:t>
            </a:fld>
            <a:endParaRPr lang="en-US"/>
          </a:p>
        </p:txBody>
      </p:sp>
    </p:spTree>
    <p:extLst>
      <p:ext uri="{BB962C8B-B14F-4D97-AF65-F5344CB8AC3E}">
        <p14:creationId xmlns:p14="http://schemas.microsoft.com/office/powerpoint/2010/main" val="696125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53EC3BC-323F-4825-9756-369F4FD6B501}" type="slidenum">
              <a:rPr lang="en-US" smtClean="0"/>
              <a:t>15</a:t>
            </a:fld>
            <a:endParaRPr lang="en-US"/>
          </a:p>
        </p:txBody>
      </p:sp>
    </p:spTree>
    <p:extLst>
      <p:ext uri="{BB962C8B-B14F-4D97-AF65-F5344CB8AC3E}">
        <p14:creationId xmlns:p14="http://schemas.microsoft.com/office/powerpoint/2010/main" val="2895474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solidFill>
                <a:effectLst/>
                <a:latin typeface="Segoe UI Light" panose="020B0502040204020203" pitchFamily="34" charset="0"/>
                <a:ea typeface="+mn-ea"/>
                <a:cs typeface="+mn-cs"/>
              </a:rPr>
              <a:t>The support for single sign-on to 3</a:t>
            </a:r>
            <a:r>
              <a:rPr lang="en-US" sz="1600" kern="1200" baseline="30000" dirty="0">
                <a:solidFill>
                  <a:schemeClr val="tx1"/>
                </a:solidFill>
                <a:effectLst/>
                <a:latin typeface="Segoe UI Light" panose="020B0502040204020203" pitchFamily="34" charset="0"/>
                <a:ea typeface="+mn-ea"/>
                <a:cs typeface="+mn-cs"/>
              </a:rPr>
              <a:t>rd</a:t>
            </a:r>
            <a:r>
              <a:rPr lang="en-US" sz="1600" kern="1200" dirty="0">
                <a:solidFill>
                  <a:schemeClr val="tx1"/>
                </a:solidFill>
                <a:effectLst/>
                <a:latin typeface="Segoe UI Light" panose="020B0502040204020203" pitchFamily="34" charset="0"/>
                <a:ea typeface="+mn-ea"/>
                <a:cs typeface="+mn-cs"/>
              </a:rPr>
              <a:t> party applications comes in two forms.</a:t>
            </a:r>
          </a:p>
          <a:p>
            <a:r>
              <a:rPr lang="en-US" sz="1600" kern="1200" dirty="0">
                <a:solidFill>
                  <a:schemeClr val="tx1"/>
                </a:solidFill>
                <a:effectLst/>
                <a:latin typeface="Segoe UI Light" panose="020B0502040204020203" pitchFamily="34" charset="0"/>
                <a:ea typeface="+mn-ea"/>
                <a:cs typeface="+mn-cs"/>
              </a:rPr>
              <a:t> </a:t>
            </a:r>
          </a:p>
          <a:p>
            <a:r>
              <a:rPr lang="en-US" sz="1600" kern="1200" dirty="0">
                <a:solidFill>
                  <a:schemeClr val="tx1"/>
                </a:solidFill>
                <a:effectLst/>
                <a:latin typeface="Segoe UI Light" panose="020B0502040204020203" pitchFamily="34" charset="0"/>
                <a:ea typeface="+mn-ea"/>
                <a:cs typeface="+mn-cs"/>
              </a:rPr>
              <a:t>The first is Federation-based, where users are signed-in to their applications using their Azure AD credentials.</a:t>
            </a:r>
          </a:p>
          <a:p>
            <a:r>
              <a:rPr lang="en-US" sz="1600" kern="1200" dirty="0">
                <a:solidFill>
                  <a:schemeClr val="tx1"/>
                </a:solidFill>
                <a:effectLst/>
                <a:latin typeface="Segoe UI Light" panose="020B0502040204020203" pitchFamily="34" charset="0"/>
                <a:ea typeface="+mn-ea"/>
                <a:cs typeface="+mn-cs"/>
              </a:rPr>
              <a:t> </a:t>
            </a:r>
          </a:p>
          <a:p>
            <a:r>
              <a:rPr lang="en-US" sz="1600" kern="1200" dirty="0">
                <a:solidFill>
                  <a:schemeClr val="tx1"/>
                </a:solidFill>
                <a:effectLst/>
                <a:latin typeface="Segoe UI Light" panose="020B0502040204020203" pitchFamily="34" charset="0"/>
                <a:ea typeface="+mn-ea"/>
                <a:cs typeface="+mn-cs"/>
              </a:rPr>
              <a:t>The other is Password-based, where users are signed in to their applications using their own personal credentials from the 3</a:t>
            </a:r>
            <a:r>
              <a:rPr lang="en-US" sz="1600" kern="1200" baseline="30000" dirty="0">
                <a:solidFill>
                  <a:schemeClr val="tx1"/>
                </a:solidFill>
                <a:effectLst/>
                <a:latin typeface="Segoe UI Light" panose="020B0502040204020203" pitchFamily="34" charset="0"/>
                <a:ea typeface="+mn-ea"/>
                <a:cs typeface="+mn-cs"/>
              </a:rPr>
              <a:t>rd</a:t>
            </a:r>
            <a:r>
              <a:rPr lang="en-US" sz="1600" kern="1200" dirty="0">
                <a:solidFill>
                  <a:schemeClr val="tx1"/>
                </a:solidFill>
                <a:effectLst/>
                <a:latin typeface="Segoe UI Light" panose="020B0502040204020203" pitchFamily="34" charset="0"/>
                <a:ea typeface="+mn-ea"/>
                <a:cs typeface="+mn-cs"/>
              </a:rPr>
              <a:t> party application.  In this scenario, the user’s credentials are securely stored in Azure AD and when the user accesses the application, those credentials are provided to the application to sign the user in.</a:t>
            </a:r>
          </a:p>
          <a:p>
            <a:endParaRPr lang="en-US" dirty="0"/>
          </a:p>
        </p:txBody>
      </p:sp>
      <p:sp>
        <p:nvSpPr>
          <p:cNvPr id="4" name="Slide Number Placeholder 3"/>
          <p:cNvSpPr>
            <a:spLocks noGrp="1"/>
          </p:cNvSpPr>
          <p:nvPr>
            <p:ph type="sldNum" sz="quarter" idx="10"/>
          </p:nvPr>
        </p:nvSpPr>
        <p:spPr/>
        <p:txBody>
          <a:bodyPr/>
          <a:lstStyle/>
          <a:p>
            <a:fld id="{715B7683-78DB-4762-84A4-155C843802F6}" type="slidenum">
              <a:rPr lang="en-US" smtClean="0"/>
              <a:pPr/>
              <a:t>23</a:t>
            </a:fld>
            <a:endParaRPr lang="en-US" dirty="0"/>
          </a:p>
        </p:txBody>
      </p:sp>
    </p:spTree>
    <p:extLst>
      <p:ext uri="{BB962C8B-B14F-4D97-AF65-F5344CB8AC3E}">
        <p14:creationId xmlns:p14="http://schemas.microsoft.com/office/powerpoint/2010/main" val="1066864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solidFill>
                <a:effectLst/>
                <a:latin typeface="Segoe UI Light" panose="020B0502040204020203" pitchFamily="34" charset="0"/>
                <a:ea typeface="+mn-ea"/>
                <a:cs typeface="+mn-cs"/>
              </a:rPr>
              <a:t>The support for single sign-on to 3</a:t>
            </a:r>
            <a:r>
              <a:rPr lang="en-US" sz="1600" kern="1200" baseline="30000" dirty="0">
                <a:solidFill>
                  <a:schemeClr val="tx1"/>
                </a:solidFill>
                <a:effectLst/>
                <a:latin typeface="Segoe UI Light" panose="020B0502040204020203" pitchFamily="34" charset="0"/>
                <a:ea typeface="+mn-ea"/>
                <a:cs typeface="+mn-cs"/>
              </a:rPr>
              <a:t>rd</a:t>
            </a:r>
            <a:r>
              <a:rPr lang="en-US" sz="1600" kern="1200" dirty="0">
                <a:solidFill>
                  <a:schemeClr val="tx1"/>
                </a:solidFill>
                <a:effectLst/>
                <a:latin typeface="Segoe UI Light" panose="020B0502040204020203" pitchFamily="34" charset="0"/>
                <a:ea typeface="+mn-ea"/>
                <a:cs typeface="+mn-cs"/>
              </a:rPr>
              <a:t> party applications comes in two forms.</a:t>
            </a:r>
          </a:p>
          <a:p>
            <a:r>
              <a:rPr lang="en-US" sz="1600" kern="1200" dirty="0">
                <a:solidFill>
                  <a:schemeClr val="tx1"/>
                </a:solidFill>
                <a:effectLst/>
                <a:latin typeface="Segoe UI Light" panose="020B0502040204020203" pitchFamily="34" charset="0"/>
                <a:ea typeface="+mn-ea"/>
                <a:cs typeface="+mn-cs"/>
              </a:rPr>
              <a:t> </a:t>
            </a:r>
          </a:p>
          <a:p>
            <a:r>
              <a:rPr lang="en-US" sz="1600" kern="1200" dirty="0">
                <a:solidFill>
                  <a:schemeClr val="tx1"/>
                </a:solidFill>
                <a:effectLst/>
                <a:latin typeface="Segoe UI Light" panose="020B0502040204020203" pitchFamily="34" charset="0"/>
                <a:ea typeface="+mn-ea"/>
                <a:cs typeface="+mn-cs"/>
              </a:rPr>
              <a:t>The first is Federation-based, where users are signed-in to their applications using their Azure AD credentials.</a:t>
            </a:r>
          </a:p>
          <a:p>
            <a:r>
              <a:rPr lang="en-US" sz="1600" kern="1200" dirty="0">
                <a:solidFill>
                  <a:schemeClr val="tx1"/>
                </a:solidFill>
                <a:effectLst/>
                <a:latin typeface="Segoe UI Light" panose="020B0502040204020203" pitchFamily="34" charset="0"/>
                <a:ea typeface="+mn-ea"/>
                <a:cs typeface="+mn-cs"/>
              </a:rPr>
              <a:t> </a:t>
            </a:r>
          </a:p>
          <a:p>
            <a:r>
              <a:rPr lang="en-US" sz="1600" kern="1200" dirty="0">
                <a:solidFill>
                  <a:schemeClr val="tx1"/>
                </a:solidFill>
                <a:effectLst/>
                <a:latin typeface="Segoe UI Light" panose="020B0502040204020203" pitchFamily="34" charset="0"/>
                <a:ea typeface="+mn-ea"/>
                <a:cs typeface="+mn-cs"/>
              </a:rPr>
              <a:t>The other is Password-based, where users are signed in to their applications using their own personal credentials from the 3</a:t>
            </a:r>
            <a:r>
              <a:rPr lang="en-US" sz="1600" kern="1200" baseline="30000" dirty="0">
                <a:solidFill>
                  <a:schemeClr val="tx1"/>
                </a:solidFill>
                <a:effectLst/>
                <a:latin typeface="Segoe UI Light" panose="020B0502040204020203" pitchFamily="34" charset="0"/>
                <a:ea typeface="+mn-ea"/>
                <a:cs typeface="+mn-cs"/>
              </a:rPr>
              <a:t>rd</a:t>
            </a:r>
            <a:r>
              <a:rPr lang="en-US" sz="1600" kern="1200" dirty="0">
                <a:solidFill>
                  <a:schemeClr val="tx1"/>
                </a:solidFill>
                <a:effectLst/>
                <a:latin typeface="Segoe UI Light" panose="020B0502040204020203" pitchFamily="34" charset="0"/>
                <a:ea typeface="+mn-ea"/>
                <a:cs typeface="+mn-cs"/>
              </a:rPr>
              <a:t> party application.  In this scenario, the user’s credentials are securely stored in Azure AD and when the user accesses the application, those credentials are provided to the application to sign the user in.</a:t>
            </a:r>
          </a:p>
          <a:p>
            <a:endParaRPr lang="en-US" dirty="0"/>
          </a:p>
        </p:txBody>
      </p:sp>
      <p:sp>
        <p:nvSpPr>
          <p:cNvPr id="4" name="Slide Number Placeholder 3"/>
          <p:cNvSpPr>
            <a:spLocks noGrp="1"/>
          </p:cNvSpPr>
          <p:nvPr>
            <p:ph type="sldNum" sz="quarter" idx="10"/>
          </p:nvPr>
        </p:nvSpPr>
        <p:spPr/>
        <p:txBody>
          <a:bodyPr/>
          <a:lstStyle/>
          <a:p>
            <a:fld id="{715B7683-78DB-4762-84A4-155C843802F6}" type="slidenum">
              <a:rPr lang="en-US" smtClean="0"/>
              <a:pPr/>
              <a:t>24</a:t>
            </a:fld>
            <a:endParaRPr lang="en-US" dirty="0"/>
          </a:p>
        </p:txBody>
      </p:sp>
    </p:spTree>
    <p:extLst>
      <p:ext uri="{BB962C8B-B14F-4D97-AF65-F5344CB8AC3E}">
        <p14:creationId xmlns:p14="http://schemas.microsoft.com/office/powerpoint/2010/main" val="2917598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53EC3BC-323F-4825-9756-369F4FD6B501}" type="slidenum">
              <a:rPr lang="en-US" smtClean="0"/>
              <a:t>34</a:t>
            </a:fld>
            <a:endParaRPr lang="en-US"/>
          </a:p>
        </p:txBody>
      </p:sp>
    </p:spTree>
    <p:extLst>
      <p:ext uri="{BB962C8B-B14F-4D97-AF65-F5344CB8AC3E}">
        <p14:creationId xmlns:p14="http://schemas.microsoft.com/office/powerpoint/2010/main" val="8223062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A41F1F-90BE-488A-B820-D47438566D65}" type="slidenum">
              <a:rPr lang="en-US" smtClean="0"/>
              <a:t>41</a:t>
            </a:fld>
            <a:endParaRPr lang="en-US"/>
          </a:p>
        </p:txBody>
      </p:sp>
    </p:spTree>
    <p:extLst>
      <p:ext uri="{BB962C8B-B14F-4D97-AF65-F5344CB8AC3E}">
        <p14:creationId xmlns:p14="http://schemas.microsoft.com/office/powerpoint/2010/main" val="18931436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A41F1F-90BE-488A-B820-D47438566D65}" type="slidenum">
              <a:rPr lang="en-US" smtClean="0"/>
              <a:t>42</a:t>
            </a:fld>
            <a:endParaRPr lang="en-US"/>
          </a:p>
        </p:txBody>
      </p:sp>
    </p:spTree>
    <p:extLst>
      <p:ext uri="{BB962C8B-B14F-4D97-AF65-F5344CB8AC3E}">
        <p14:creationId xmlns:p14="http://schemas.microsoft.com/office/powerpoint/2010/main" val="3599387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606D133-A487-41E5-90C3-B2BABF8B1755}" type="datetimeFigureOut">
              <a:rPr lang="en-IN" smtClean="0"/>
              <a:t>06-04-2017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4A7FA3-BF5D-484E-B4D5-C8E41B224192}" type="slidenum">
              <a:rPr lang="en-IN" smtClean="0"/>
              <a:t>‹#›</a:t>
            </a:fld>
            <a:endParaRPr lang="en-IN"/>
          </a:p>
        </p:txBody>
      </p:sp>
    </p:spTree>
    <p:extLst>
      <p:ext uri="{BB962C8B-B14F-4D97-AF65-F5344CB8AC3E}">
        <p14:creationId xmlns:p14="http://schemas.microsoft.com/office/powerpoint/2010/main" val="483174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606D133-A487-41E5-90C3-B2BABF8B1755}" type="datetimeFigureOut">
              <a:rPr lang="en-IN" smtClean="0"/>
              <a:t>06-04-2017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4A7FA3-BF5D-484E-B4D5-C8E41B224192}" type="slidenum">
              <a:rPr lang="en-IN" smtClean="0"/>
              <a:t>‹#›</a:t>
            </a:fld>
            <a:endParaRPr lang="en-IN"/>
          </a:p>
        </p:txBody>
      </p:sp>
    </p:spTree>
    <p:extLst>
      <p:ext uri="{BB962C8B-B14F-4D97-AF65-F5344CB8AC3E}">
        <p14:creationId xmlns:p14="http://schemas.microsoft.com/office/powerpoint/2010/main" val="183454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606D133-A487-41E5-90C3-B2BABF8B1755}" type="datetimeFigureOut">
              <a:rPr lang="en-IN" smtClean="0"/>
              <a:t>06-04-2017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4A7FA3-BF5D-484E-B4D5-C8E41B224192}" type="slidenum">
              <a:rPr lang="en-IN" smtClean="0"/>
              <a:t>‹#›</a:t>
            </a:fld>
            <a:endParaRPr lang="en-IN"/>
          </a:p>
        </p:txBody>
      </p:sp>
    </p:spTree>
    <p:extLst>
      <p:ext uri="{BB962C8B-B14F-4D97-AF65-F5344CB8AC3E}">
        <p14:creationId xmlns:p14="http://schemas.microsoft.com/office/powerpoint/2010/main" val="3878241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606D133-A487-41E5-90C3-B2BABF8B1755}" type="datetimeFigureOut">
              <a:rPr lang="en-IN" smtClean="0"/>
              <a:t>06-04-2017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4A7FA3-BF5D-484E-B4D5-C8E41B224192}" type="slidenum">
              <a:rPr lang="en-IN" smtClean="0"/>
              <a:t>‹#›</a:t>
            </a:fld>
            <a:endParaRPr lang="en-IN"/>
          </a:p>
        </p:txBody>
      </p:sp>
    </p:spTree>
    <p:extLst>
      <p:ext uri="{BB962C8B-B14F-4D97-AF65-F5344CB8AC3E}">
        <p14:creationId xmlns:p14="http://schemas.microsoft.com/office/powerpoint/2010/main" val="1898803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606D133-A487-41E5-90C3-B2BABF8B1755}" type="datetimeFigureOut">
              <a:rPr lang="en-IN" smtClean="0"/>
              <a:t>06-04-2017</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04A7FA3-BF5D-484E-B4D5-C8E41B224192}" type="slidenum">
              <a:rPr lang="en-IN" smtClean="0"/>
              <a:t>‹#›</a:t>
            </a:fld>
            <a:endParaRPr lang="en-IN"/>
          </a:p>
        </p:txBody>
      </p:sp>
    </p:spTree>
    <p:extLst>
      <p:ext uri="{BB962C8B-B14F-4D97-AF65-F5344CB8AC3E}">
        <p14:creationId xmlns:p14="http://schemas.microsoft.com/office/powerpoint/2010/main" val="3480477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606D133-A487-41E5-90C3-B2BABF8B1755}" type="datetimeFigureOut">
              <a:rPr lang="en-IN" smtClean="0"/>
              <a:t>06-04-2017</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04A7FA3-BF5D-484E-B4D5-C8E41B224192}" type="slidenum">
              <a:rPr lang="en-IN" smtClean="0"/>
              <a:t>‹#›</a:t>
            </a:fld>
            <a:endParaRPr lang="en-IN"/>
          </a:p>
        </p:txBody>
      </p:sp>
    </p:spTree>
    <p:extLst>
      <p:ext uri="{BB962C8B-B14F-4D97-AF65-F5344CB8AC3E}">
        <p14:creationId xmlns:p14="http://schemas.microsoft.com/office/powerpoint/2010/main" val="2384254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06D133-A487-41E5-90C3-B2BABF8B1755}" type="datetimeFigureOut">
              <a:rPr lang="en-IN" smtClean="0"/>
              <a:t>06-04-2017</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04A7FA3-BF5D-484E-B4D5-C8E41B224192}" type="slidenum">
              <a:rPr lang="en-IN" smtClean="0"/>
              <a:t>‹#›</a:t>
            </a:fld>
            <a:endParaRPr lang="en-IN"/>
          </a:p>
        </p:txBody>
      </p:sp>
    </p:spTree>
    <p:extLst>
      <p:ext uri="{BB962C8B-B14F-4D97-AF65-F5344CB8AC3E}">
        <p14:creationId xmlns:p14="http://schemas.microsoft.com/office/powerpoint/2010/main" val="1017728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606D133-A487-41E5-90C3-B2BABF8B1755}" type="datetimeFigureOut">
              <a:rPr lang="en-IN" smtClean="0"/>
              <a:t>06-04-2017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4A7FA3-BF5D-484E-B4D5-C8E41B224192}" type="slidenum">
              <a:rPr lang="en-IN" smtClean="0"/>
              <a:t>‹#›</a:t>
            </a:fld>
            <a:endParaRPr lang="en-IN"/>
          </a:p>
        </p:txBody>
      </p:sp>
    </p:spTree>
    <p:extLst>
      <p:ext uri="{BB962C8B-B14F-4D97-AF65-F5344CB8AC3E}">
        <p14:creationId xmlns:p14="http://schemas.microsoft.com/office/powerpoint/2010/main" val="3886038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606D133-A487-41E5-90C3-B2BABF8B1755}" type="datetimeFigureOut">
              <a:rPr lang="en-IN" smtClean="0"/>
              <a:t>06-04-2017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4A7FA3-BF5D-484E-B4D5-C8E41B224192}" type="slidenum">
              <a:rPr lang="en-IN" smtClean="0"/>
              <a:t>‹#›</a:t>
            </a:fld>
            <a:endParaRPr lang="en-IN"/>
          </a:p>
        </p:txBody>
      </p:sp>
    </p:spTree>
    <p:extLst>
      <p:ext uri="{BB962C8B-B14F-4D97-AF65-F5344CB8AC3E}">
        <p14:creationId xmlns:p14="http://schemas.microsoft.com/office/powerpoint/2010/main" val="273756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606D133-A487-41E5-90C3-B2BABF8B1755}" type="datetimeFigureOut">
              <a:rPr lang="en-IN" smtClean="0"/>
              <a:t>06-04-2017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4A7FA3-BF5D-484E-B4D5-C8E41B224192}" type="slidenum">
              <a:rPr lang="en-IN" smtClean="0"/>
              <a:t>‹#›</a:t>
            </a:fld>
            <a:endParaRPr lang="en-IN"/>
          </a:p>
        </p:txBody>
      </p:sp>
    </p:spTree>
    <p:extLst>
      <p:ext uri="{BB962C8B-B14F-4D97-AF65-F5344CB8AC3E}">
        <p14:creationId xmlns:p14="http://schemas.microsoft.com/office/powerpoint/2010/main" val="2830522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606D133-A487-41E5-90C3-B2BABF8B1755}" type="datetimeFigureOut">
              <a:rPr lang="en-IN" smtClean="0"/>
              <a:t>06-04-2017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4A7FA3-BF5D-484E-B4D5-C8E41B224192}" type="slidenum">
              <a:rPr lang="en-IN" smtClean="0"/>
              <a:t>‹#›</a:t>
            </a:fld>
            <a:endParaRPr lang="en-IN"/>
          </a:p>
        </p:txBody>
      </p:sp>
    </p:spTree>
    <p:extLst>
      <p:ext uri="{BB962C8B-B14F-4D97-AF65-F5344CB8AC3E}">
        <p14:creationId xmlns:p14="http://schemas.microsoft.com/office/powerpoint/2010/main" val="21151204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ulleted Layout">
    <p:bg bwMode="black">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97699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7559431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438385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11172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06D133-A487-41E5-90C3-B2BABF8B1755}" type="datetimeFigureOut">
              <a:rPr lang="en-IN" smtClean="0"/>
              <a:t>06-04-2017</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4A7FA3-BF5D-484E-B4D5-C8E41B224192}" type="slidenum">
              <a:rPr lang="en-IN" smtClean="0"/>
              <a:t>‹#›</a:t>
            </a:fld>
            <a:endParaRPr lang="en-IN"/>
          </a:p>
        </p:txBody>
      </p:sp>
    </p:spTree>
    <p:extLst>
      <p:ext uri="{BB962C8B-B14F-4D97-AF65-F5344CB8AC3E}">
        <p14:creationId xmlns:p14="http://schemas.microsoft.com/office/powerpoint/2010/main" val="1946497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docs.microsoft.com/en-us/azure/active-directory/active-directory-saas-tutorial-lis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1.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8798"/>
            <a:ext cx="9144000" cy="2387600"/>
          </a:xfrm>
        </p:spPr>
        <p:txBody>
          <a:bodyPr>
            <a:normAutofit fontScale="90000"/>
          </a:bodyPr>
          <a:lstStyle/>
          <a:p>
            <a:r>
              <a:rPr lang="en-IN" b="1" dirty="0"/>
              <a:t>70-533 :</a:t>
            </a:r>
            <a:r>
              <a:rPr lang="en-IN" dirty="0"/>
              <a:t/>
            </a:r>
            <a:br>
              <a:rPr lang="en-IN" dirty="0"/>
            </a:br>
            <a:r>
              <a:rPr lang="fr-FR" b="1" dirty="0"/>
              <a:t>Implementing Microsoft Azure Infrastructure Solutions</a:t>
            </a:r>
            <a:br>
              <a:rPr lang="fr-FR" b="1" dirty="0"/>
            </a:br>
            <a:endParaRPr lang="en-IN" dirty="0"/>
          </a:p>
        </p:txBody>
      </p:sp>
    </p:spTree>
    <p:extLst>
      <p:ext uri="{BB962C8B-B14F-4D97-AF65-F5344CB8AC3E}">
        <p14:creationId xmlns:p14="http://schemas.microsoft.com/office/powerpoint/2010/main" val="2775264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070" y="365125"/>
            <a:ext cx="11449878" cy="734805"/>
          </a:xfrm>
        </p:spPr>
        <p:txBody>
          <a:bodyPr>
            <a:normAutofit fontScale="90000"/>
          </a:bodyPr>
          <a:lstStyle/>
          <a:p>
            <a:pPr algn="ctr"/>
            <a:r>
              <a:rPr lang="fr-FR" b="1" dirty="0"/>
              <a:t>70-533 : Implementing Microsoft Azure Infrastructure Solutions</a:t>
            </a:r>
            <a:endParaRPr lang="en-IN" dirty="0"/>
          </a:p>
        </p:txBody>
      </p:sp>
      <p:pic>
        <p:nvPicPr>
          <p:cNvPr id="4" name="Picture 3"/>
          <p:cNvPicPr>
            <a:picLocks noChangeAspect="1"/>
          </p:cNvPicPr>
          <p:nvPr/>
        </p:nvPicPr>
        <p:blipFill>
          <a:blip r:embed="rId2"/>
          <a:stretch>
            <a:fillRect/>
          </a:stretch>
        </p:blipFill>
        <p:spPr>
          <a:xfrm>
            <a:off x="1658178" y="1386922"/>
            <a:ext cx="8875643" cy="4748549"/>
          </a:xfrm>
          <a:prstGeom prst="rect">
            <a:avLst/>
          </a:prstGeom>
        </p:spPr>
      </p:pic>
    </p:spTree>
    <p:extLst>
      <p:ext uri="{BB962C8B-B14F-4D97-AF65-F5344CB8AC3E}">
        <p14:creationId xmlns:p14="http://schemas.microsoft.com/office/powerpoint/2010/main" val="31934783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Azure Active Directory?</a:t>
            </a:r>
            <a:br>
              <a:rPr lang="en-US" dirty="0"/>
            </a:br>
            <a:endParaRPr lang="en-US" dirty="0"/>
          </a:p>
        </p:txBody>
      </p:sp>
      <p:sp>
        <p:nvSpPr>
          <p:cNvPr id="3" name="Content Placeholder 2"/>
          <p:cNvSpPr>
            <a:spLocks noGrp="1"/>
          </p:cNvSpPr>
          <p:nvPr>
            <p:ph idx="1"/>
          </p:nvPr>
        </p:nvSpPr>
        <p:spPr>
          <a:xfrm>
            <a:off x="838200" y="1233182"/>
            <a:ext cx="10515600" cy="4943781"/>
          </a:xfrm>
        </p:spPr>
        <p:txBody>
          <a:bodyPr>
            <a:normAutofit/>
          </a:bodyPr>
          <a:lstStyle/>
          <a:p>
            <a:r>
              <a:rPr lang="en-US" sz="1600" dirty="0"/>
              <a:t>Azure Active Directory (Azure AD) is Microsoft’s multi-tenant cloud based directory and identity management service</a:t>
            </a:r>
            <a:r>
              <a:rPr lang="en-US" sz="1600" dirty="0" smtClean="0"/>
              <a:t>.</a:t>
            </a:r>
          </a:p>
          <a:p>
            <a:r>
              <a:rPr lang="en-US" sz="1600" dirty="0"/>
              <a:t>For IT Admins, Azure AD provides an affordable, easy to use solution to give employees and business partners single sign-on (SSO) access to </a:t>
            </a:r>
            <a:r>
              <a:rPr lang="en-US" sz="1600" dirty="0">
                <a:hlinkClick r:id="rId2"/>
              </a:rPr>
              <a:t>thousands of cloud </a:t>
            </a:r>
            <a:r>
              <a:rPr lang="en-US" sz="1600" dirty="0" err="1">
                <a:hlinkClick r:id="rId2"/>
              </a:rPr>
              <a:t>SaaS</a:t>
            </a:r>
            <a:r>
              <a:rPr lang="en-US" sz="1600" dirty="0">
                <a:hlinkClick r:id="rId2"/>
              </a:rPr>
              <a:t> Applications</a:t>
            </a:r>
            <a:r>
              <a:rPr lang="en-US" sz="1600" dirty="0"/>
              <a:t> like Office365, Salesforce.com, </a:t>
            </a:r>
            <a:r>
              <a:rPr lang="en-US" sz="1600" dirty="0" err="1"/>
              <a:t>DropBox</a:t>
            </a:r>
            <a:r>
              <a:rPr lang="en-US" sz="1600" dirty="0"/>
              <a:t>, and Concur</a:t>
            </a:r>
            <a:r>
              <a:rPr lang="en-US" sz="1600" dirty="0" smtClean="0"/>
              <a:t>.</a:t>
            </a:r>
          </a:p>
          <a:p>
            <a:r>
              <a:rPr lang="en-US" sz="1600" dirty="0"/>
              <a:t>Azure AD also includes a full suite of identity management capabilities including multi-factor authentication, device registration, self-service password management, self-service group management, privileged account management, role based access control, application usage monitoring, rich auditing and security monitoring and alerting. These capabilities can help secure cloud based applications, streamline IT processes, cut costs and help ensure that corporate compliance goals are met</a:t>
            </a:r>
            <a:r>
              <a:rPr lang="en-US" sz="1600" dirty="0" smtClean="0"/>
              <a:t>.</a:t>
            </a:r>
          </a:p>
          <a:p>
            <a:endParaRPr lang="en-US" sz="1600" dirty="0"/>
          </a:p>
          <a:p>
            <a:r>
              <a:rPr lang="en-US" sz="1600" dirty="0"/>
              <a:t>AD can be integrated with an existing Windows Server Active Directory, giving organizations the ability to leverage their existing on-premises identity investments to manage access to cloud based </a:t>
            </a:r>
            <a:r>
              <a:rPr lang="en-US" sz="1600" dirty="0" err="1"/>
              <a:t>SaaS</a:t>
            </a:r>
            <a:r>
              <a:rPr lang="en-US" sz="1600" dirty="0"/>
              <a:t> applications</a:t>
            </a:r>
            <a:r>
              <a:rPr lang="en-US" sz="1600" dirty="0" smtClean="0"/>
              <a:t>.</a:t>
            </a:r>
          </a:p>
          <a:p>
            <a:endParaRPr lang="en-US" sz="1600" dirty="0"/>
          </a:p>
          <a:p>
            <a:r>
              <a:rPr lang="en-US" sz="1600" dirty="0"/>
              <a:t>If you are an Office365, Azure or Dynamics CRM Online customer, you might not realize that you are already using Azure AD. Every Office365, Azure and Dynamics CRM tenant is actually already an Azure AD tenant. Whenever you want you can start using that tenant to manage access to thousands of other cloud applications Azure AD integrates with!</a:t>
            </a:r>
            <a:endParaRPr lang="en-US" sz="1600" dirty="0" smtClean="0"/>
          </a:p>
          <a:p>
            <a:endParaRPr lang="en-US" sz="1600" dirty="0"/>
          </a:p>
        </p:txBody>
      </p:sp>
    </p:spTree>
    <p:extLst>
      <p:ext uri="{BB962C8B-B14F-4D97-AF65-F5344CB8AC3E}">
        <p14:creationId xmlns:p14="http://schemas.microsoft.com/office/powerpoint/2010/main" val="17735762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98916" y="251670"/>
            <a:ext cx="8969595" cy="3713897"/>
          </a:xfrm>
          <a:prstGeom prst="rect">
            <a:avLst/>
          </a:prstGeom>
        </p:spPr>
      </p:pic>
      <p:sp>
        <p:nvSpPr>
          <p:cNvPr id="3" name="Rectangle 2"/>
          <p:cNvSpPr/>
          <p:nvPr/>
        </p:nvSpPr>
        <p:spPr>
          <a:xfrm>
            <a:off x="360728" y="4351195"/>
            <a:ext cx="11425804" cy="1477328"/>
          </a:xfrm>
          <a:prstGeom prst="rect">
            <a:avLst/>
          </a:prstGeom>
        </p:spPr>
        <p:txBody>
          <a:bodyPr wrap="square">
            <a:spAutoFit/>
          </a:bodyPr>
          <a:lstStyle/>
          <a:p>
            <a:pPr>
              <a:buFont typeface="Arial" panose="020B0604020202020204" pitchFamily="34" charset="0"/>
              <a:buChar char="•"/>
            </a:pPr>
            <a:r>
              <a:rPr lang="en-US" dirty="0">
                <a:solidFill>
                  <a:srgbClr val="222222"/>
                </a:solidFill>
                <a:latin typeface="segoe-ui_normal"/>
              </a:rPr>
              <a:t>Quickly adopt cloud services, providing employees and partners with an easy single-sign on experience powered by Azure AD’s fully automated </a:t>
            </a:r>
            <a:r>
              <a:rPr lang="en-US" dirty="0" err="1">
                <a:solidFill>
                  <a:srgbClr val="222222"/>
                </a:solidFill>
                <a:latin typeface="segoe-ui_normal"/>
              </a:rPr>
              <a:t>SaaS</a:t>
            </a:r>
            <a:r>
              <a:rPr lang="en-US" dirty="0">
                <a:solidFill>
                  <a:srgbClr val="222222"/>
                </a:solidFill>
                <a:latin typeface="segoe-ui_normal"/>
              </a:rPr>
              <a:t> app access management and provisioning services capabilities</a:t>
            </a:r>
            <a:r>
              <a:rPr lang="en-US" dirty="0" smtClean="0">
                <a:solidFill>
                  <a:srgbClr val="222222"/>
                </a:solidFill>
                <a:latin typeface="segoe-ui_normal"/>
              </a:rPr>
              <a:t>.</a:t>
            </a:r>
          </a:p>
          <a:p>
            <a:pPr>
              <a:buFont typeface="Arial" panose="020B0604020202020204" pitchFamily="34" charset="0"/>
              <a:buChar char="•"/>
            </a:pPr>
            <a:endParaRPr lang="en-US" dirty="0">
              <a:solidFill>
                <a:srgbClr val="222222"/>
              </a:solidFill>
              <a:latin typeface="segoe-ui_normal"/>
            </a:endParaRPr>
          </a:p>
          <a:p>
            <a:pPr>
              <a:buFont typeface="Arial" panose="020B0604020202020204" pitchFamily="34" charset="0"/>
              <a:buChar char="•"/>
            </a:pPr>
            <a:r>
              <a:rPr lang="en-US" dirty="0">
                <a:solidFill>
                  <a:srgbClr val="222222"/>
                </a:solidFill>
                <a:latin typeface="segoe-ui_normal"/>
              </a:rPr>
              <a:t>Empower employees with access to world class cloud apps and self-service capabilities from wherever they need to work on the devices they love to use.</a:t>
            </a:r>
            <a:endParaRPr lang="en-US" b="0" i="0" dirty="0">
              <a:solidFill>
                <a:srgbClr val="222222"/>
              </a:solidFill>
              <a:effectLst/>
              <a:latin typeface="segoe-ui_normal"/>
            </a:endParaRPr>
          </a:p>
        </p:txBody>
      </p:sp>
    </p:spTree>
    <p:extLst>
      <p:ext uri="{BB962C8B-B14F-4D97-AF65-F5344CB8AC3E}">
        <p14:creationId xmlns:p14="http://schemas.microsoft.com/office/powerpoint/2010/main" val="7513508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Integrate an Azure with Existing Directory</a:t>
            </a:r>
            <a:endParaRPr lang="en-US" dirty="0"/>
          </a:p>
        </p:txBody>
      </p:sp>
    </p:spTree>
    <p:extLst>
      <p:ext uri="{BB962C8B-B14F-4D97-AF65-F5344CB8AC3E}">
        <p14:creationId xmlns:p14="http://schemas.microsoft.com/office/powerpoint/2010/main" val="9360110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809" y="144458"/>
            <a:ext cx="11240670" cy="2731264"/>
          </a:xfrm>
          <a:prstGeom prst="rect">
            <a:avLst/>
          </a:prstGeom>
        </p:spPr>
      </p:pic>
    </p:spTree>
    <p:extLst>
      <p:ext uri="{BB962C8B-B14F-4D97-AF65-F5344CB8AC3E}">
        <p14:creationId xmlns:p14="http://schemas.microsoft.com/office/powerpoint/2010/main" val="41146487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1860696" cy="3737113"/>
          </a:xfrm>
          <a:prstGeom prst="rect">
            <a:avLst/>
          </a:prstGeom>
        </p:spPr>
      </p:pic>
      <p:sp>
        <p:nvSpPr>
          <p:cNvPr id="5" name="Title 4"/>
          <p:cNvSpPr>
            <a:spLocks noGrp="1"/>
          </p:cNvSpPr>
          <p:nvPr>
            <p:ph type="title"/>
          </p:nvPr>
        </p:nvSpPr>
        <p:spPr/>
        <p:txBody>
          <a:bodyPr/>
          <a:lstStyle/>
          <a:p>
            <a:endParaRPr lang="en-US"/>
          </a:p>
        </p:txBody>
      </p:sp>
    </p:spTree>
    <p:extLst>
      <p:ext uri="{BB962C8B-B14F-4D97-AF65-F5344CB8AC3E}">
        <p14:creationId xmlns:p14="http://schemas.microsoft.com/office/powerpoint/2010/main" val="16305759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668" y="708790"/>
            <a:ext cx="12192001" cy="4116947"/>
          </a:xfrm>
          <a:prstGeom prst="rect">
            <a:avLst/>
          </a:prstGeom>
        </p:spPr>
      </p:pic>
    </p:spTree>
    <p:extLst>
      <p:ext uri="{BB962C8B-B14F-4D97-AF65-F5344CB8AC3E}">
        <p14:creationId xmlns:p14="http://schemas.microsoft.com/office/powerpoint/2010/main" val="39989477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95618" y="345935"/>
            <a:ext cx="9799297" cy="6616542"/>
          </a:xfrm>
          <a:prstGeom prst="rect">
            <a:avLst/>
          </a:prstGeom>
        </p:spPr>
      </p:pic>
    </p:spTree>
    <p:extLst>
      <p:ext uri="{BB962C8B-B14F-4D97-AF65-F5344CB8AC3E}">
        <p14:creationId xmlns:p14="http://schemas.microsoft.com/office/powerpoint/2010/main" val="32356957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04" y="164355"/>
            <a:ext cx="9171809" cy="3665871"/>
          </a:xfrm>
          <a:prstGeom prst="rect">
            <a:avLst/>
          </a:prstGeom>
        </p:spPr>
      </p:pic>
    </p:spTree>
    <p:extLst>
      <p:ext uri="{BB962C8B-B14F-4D97-AF65-F5344CB8AC3E}">
        <p14:creationId xmlns:p14="http://schemas.microsoft.com/office/powerpoint/2010/main" val="6835232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2031" y="844113"/>
            <a:ext cx="10515600" cy="4351338"/>
          </a:xfrm>
        </p:spPr>
        <p:txBody>
          <a:bodyPr>
            <a:normAutofit fontScale="70000" lnSpcReduction="20000"/>
          </a:bodyPr>
          <a:lstStyle/>
          <a:p>
            <a:r>
              <a:rPr lang="en-US" dirty="0"/>
              <a:t>Explanation: If you don’t want to wait for the recurring synchronizations that occur every three hours, you can force directory synchronization at any time</a:t>
            </a:r>
            <a:r>
              <a:rPr lang="en-US" dirty="0" smtClean="0"/>
              <a:t>.</a:t>
            </a:r>
          </a:p>
          <a:p>
            <a:endParaRPr lang="en-US" dirty="0"/>
          </a:p>
          <a:p>
            <a:r>
              <a:rPr lang="en-US" dirty="0" smtClean="0"/>
              <a:t> </a:t>
            </a:r>
            <a:r>
              <a:rPr lang="en-US" dirty="0"/>
              <a:t>B: Force directory synchronization using Windows PowerShell You can use the directory synchronization Windows PowerShell </a:t>
            </a:r>
            <a:r>
              <a:rPr lang="en-US" dirty="0" err="1"/>
              <a:t>cmdlet</a:t>
            </a:r>
            <a:r>
              <a:rPr lang="en-US" dirty="0"/>
              <a:t> to force synchronization. The </a:t>
            </a:r>
            <a:r>
              <a:rPr lang="en-US" dirty="0" err="1"/>
              <a:t>cmdlet</a:t>
            </a:r>
            <a:r>
              <a:rPr lang="en-US" dirty="0"/>
              <a:t> is installed when you install the Directory Sync </a:t>
            </a:r>
            <a:r>
              <a:rPr lang="en-US" dirty="0" err="1"/>
              <a:t>tool.On</a:t>
            </a:r>
            <a:r>
              <a:rPr lang="en-US" dirty="0"/>
              <a:t> the computer that is running the Directory Sync tool, start PowerShell, type Import-Module </a:t>
            </a:r>
            <a:r>
              <a:rPr lang="en-US" dirty="0" err="1"/>
              <a:t>DirSync</a:t>
            </a:r>
            <a:r>
              <a:rPr lang="en-US" dirty="0"/>
              <a:t>, and then press </a:t>
            </a:r>
            <a:r>
              <a:rPr lang="en-US" dirty="0" err="1"/>
              <a:t>ENTER.TypeStart-OnlineCoexistenceSync</a:t>
            </a:r>
            <a:r>
              <a:rPr lang="en-US" dirty="0"/>
              <a:t>, and then press ENTER. </a:t>
            </a:r>
            <a:endParaRPr lang="en-US" dirty="0" smtClean="0"/>
          </a:p>
          <a:p>
            <a:endParaRPr lang="en-US" dirty="0"/>
          </a:p>
          <a:p>
            <a:r>
              <a:rPr lang="en-US" dirty="0" smtClean="0"/>
              <a:t>D</a:t>
            </a:r>
            <a:r>
              <a:rPr lang="en-US" dirty="0"/>
              <a:t>: Azure Active Directory Sync Services (AAD Sync) In September 2014 the Microsoft Azure AD Sync tool was released. This changed how manual sync requests are </a:t>
            </a:r>
            <a:r>
              <a:rPr lang="en-US" dirty="0" err="1"/>
              <a:t>issued.To</a:t>
            </a:r>
            <a:r>
              <a:rPr lang="en-US" dirty="0"/>
              <a:t> perform a manual update we now use the DirectorySyncClientCmd.exe tool. The Delta and Initial parameters are added to the command to specify the relevant </a:t>
            </a:r>
            <a:r>
              <a:rPr lang="en-US" dirty="0" err="1"/>
              <a:t>task.This</a:t>
            </a:r>
            <a:r>
              <a:rPr lang="en-US" dirty="0"/>
              <a:t> tool is located in: C:\Program Files\Microsoft Azure AD Sync\Bin You can use the directory synchronization Windows PowerShell </a:t>
            </a:r>
            <a:r>
              <a:rPr lang="en-US" dirty="0" err="1"/>
              <a:t>cmdlet</a:t>
            </a:r>
            <a:r>
              <a:rPr lang="en-US" dirty="0"/>
              <a:t> to force synchronization. The </a:t>
            </a:r>
            <a:r>
              <a:rPr lang="en-US" dirty="0" err="1"/>
              <a:t>cmdlet</a:t>
            </a:r>
            <a:r>
              <a:rPr lang="en-US" dirty="0"/>
              <a:t> is installed when you install the Directory Sync </a:t>
            </a:r>
            <a:r>
              <a:rPr lang="en-US" dirty="0" err="1"/>
              <a:t>tool.On</a:t>
            </a:r>
            <a:r>
              <a:rPr lang="en-US" dirty="0"/>
              <a:t> the computer that is running the Directory Sync tool, start PowerShell, type Import-Module </a:t>
            </a:r>
            <a:r>
              <a:rPr lang="en-US" dirty="0" err="1"/>
              <a:t>DirSync</a:t>
            </a:r>
            <a:r>
              <a:rPr lang="en-US" dirty="0"/>
              <a:t>, </a:t>
            </a:r>
            <a:r>
              <a:rPr lang="en-US" dirty="0" err="1"/>
              <a:t>andthen</a:t>
            </a:r>
            <a:r>
              <a:rPr lang="en-US" dirty="0"/>
              <a:t> press </a:t>
            </a:r>
            <a:r>
              <a:rPr lang="en-US" dirty="0" err="1"/>
              <a:t>ENTER.Type</a:t>
            </a:r>
            <a:r>
              <a:rPr lang="en-US" dirty="0"/>
              <a:t> Start-</a:t>
            </a:r>
            <a:r>
              <a:rPr lang="en-US" dirty="0" err="1"/>
              <a:t>OnlineCoexistenceSync</a:t>
            </a:r>
            <a:r>
              <a:rPr lang="en-US" dirty="0"/>
              <a:t>, and then press ENTER.</a:t>
            </a:r>
          </a:p>
          <a:p>
            <a:endParaRPr lang="en-US" dirty="0"/>
          </a:p>
        </p:txBody>
      </p:sp>
    </p:spTree>
    <p:extLst>
      <p:ext uri="{BB962C8B-B14F-4D97-AF65-F5344CB8AC3E}">
        <p14:creationId xmlns:p14="http://schemas.microsoft.com/office/powerpoint/2010/main" val="23819871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4227443"/>
          </a:xfrm>
          <a:prstGeom prst="rect">
            <a:avLst/>
          </a:prstGeom>
        </p:spPr>
      </p:pic>
    </p:spTree>
    <p:extLst>
      <p:ext uri="{BB962C8B-B14F-4D97-AF65-F5344CB8AC3E}">
        <p14:creationId xmlns:p14="http://schemas.microsoft.com/office/powerpoint/2010/main" val="28103630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273" y="233679"/>
            <a:ext cx="11433658" cy="3013104"/>
          </a:xfrm>
          <a:prstGeom prst="rect">
            <a:avLst/>
          </a:prstGeom>
        </p:spPr>
      </p:pic>
      <p:sp>
        <p:nvSpPr>
          <p:cNvPr id="4" name="Title 3"/>
          <p:cNvSpPr>
            <a:spLocks noGrp="1"/>
          </p:cNvSpPr>
          <p:nvPr>
            <p:ph type="title"/>
          </p:nvPr>
        </p:nvSpPr>
        <p:spPr/>
        <p:txBody>
          <a:bodyPr/>
          <a:lstStyle/>
          <a:p>
            <a:endParaRPr lang="en-US"/>
          </a:p>
        </p:txBody>
      </p:sp>
    </p:spTree>
    <p:extLst>
      <p:ext uri="{BB962C8B-B14F-4D97-AF65-F5344CB8AC3E}">
        <p14:creationId xmlns:p14="http://schemas.microsoft.com/office/powerpoint/2010/main" val="6076994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983" y="97062"/>
            <a:ext cx="11549200" cy="4329163"/>
          </a:xfrm>
          <a:prstGeom prst="rect">
            <a:avLst/>
          </a:prstGeom>
        </p:spPr>
      </p:pic>
      <p:sp>
        <p:nvSpPr>
          <p:cNvPr id="3" name="Title 1"/>
          <p:cNvSpPr>
            <a:spLocks noGrp="1"/>
          </p:cNvSpPr>
          <p:nvPr>
            <p:ph type="title"/>
          </p:nvPr>
        </p:nvSpPr>
        <p:spPr>
          <a:xfrm>
            <a:off x="387625" y="4558748"/>
            <a:ext cx="11605591" cy="2186607"/>
          </a:xfrm>
        </p:spPr>
        <p:txBody>
          <a:bodyPr>
            <a:normAutofit/>
          </a:bodyPr>
          <a:lstStyle/>
          <a:p>
            <a:r>
              <a:rPr lang="en-IN" sz="1800" b="1" dirty="0"/>
              <a:t/>
            </a:r>
            <a:br>
              <a:rPr lang="en-IN" sz="1800" b="1" dirty="0"/>
            </a:br>
            <a:r>
              <a:rPr lang="en-IN" sz="1800" b="1" dirty="0"/>
              <a:t/>
            </a:r>
            <a:br>
              <a:rPr lang="en-IN" sz="1800" b="1" dirty="0"/>
            </a:br>
            <a:endParaRPr lang="en-IN" sz="1800" b="1" dirty="0"/>
          </a:p>
        </p:txBody>
      </p:sp>
      <p:pic>
        <p:nvPicPr>
          <p:cNvPr id="4" name="Picture 3"/>
          <p:cNvPicPr>
            <a:picLocks noChangeAspect="1"/>
          </p:cNvPicPr>
          <p:nvPr/>
        </p:nvPicPr>
        <p:blipFill>
          <a:blip r:embed="rId3"/>
          <a:stretch>
            <a:fillRect/>
          </a:stretch>
        </p:blipFill>
        <p:spPr>
          <a:xfrm>
            <a:off x="231983" y="1830999"/>
            <a:ext cx="4041819" cy="2727749"/>
          </a:xfrm>
          <a:prstGeom prst="rect">
            <a:avLst/>
          </a:prstGeom>
        </p:spPr>
      </p:pic>
    </p:spTree>
    <p:extLst>
      <p:ext uri="{BB962C8B-B14F-4D97-AF65-F5344CB8AC3E}">
        <p14:creationId xmlns:p14="http://schemas.microsoft.com/office/powerpoint/2010/main" val="6513256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809" y="6003235"/>
            <a:ext cx="11635408" cy="609600"/>
          </a:xfrm>
        </p:spPr>
        <p:txBody>
          <a:bodyPr>
            <a:normAutofit fontScale="90000"/>
          </a:bodyPr>
          <a:lstStyle/>
          <a:p>
            <a:r>
              <a:rPr lang="en-IN" sz="1800" b="1" dirty="0"/>
              <a:t/>
            </a:r>
            <a:br>
              <a:rPr lang="en-IN" sz="1800" b="1" dirty="0"/>
            </a:br>
            <a:r>
              <a:rPr lang="en-IN" sz="1800" b="1" dirty="0"/>
              <a:t/>
            </a:r>
            <a:br>
              <a:rPr lang="en-IN" sz="1800" b="1" dirty="0"/>
            </a:br>
            <a:r>
              <a:rPr lang="en-IN" sz="1800" b="1" dirty="0"/>
              <a:t/>
            </a:r>
            <a:br>
              <a:rPr lang="en-IN" sz="1800" b="1" dirty="0"/>
            </a:br>
            <a:endParaRPr lang="en-IN" sz="1800" b="1"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302" y="290454"/>
            <a:ext cx="10439194" cy="3755105"/>
          </a:xfrm>
          <a:prstGeom prst="rect">
            <a:avLst/>
          </a:prstGeom>
        </p:spPr>
      </p:pic>
    </p:spTree>
    <p:extLst>
      <p:ext uri="{BB962C8B-B14F-4D97-AF65-F5344CB8AC3E}">
        <p14:creationId xmlns:p14="http://schemas.microsoft.com/office/powerpoint/2010/main" val="36248101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Configure the Application Panel</a:t>
            </a:r>
            <a:endParaRPr lang="en-US" dirty="0"/>
          </a:p>
        </p:txBody>
      </p:sp>
    </p:spTree>
    <p:extLst>
      <p:ext uri="{BB962C8B-B14F-4D97-AF65-F5344CB8AC3E}">
        <p14:creationId xmlns:p14="http://schemas.microsoft.com/office/powerpoint/2010/main" val="127126395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625" y="4757530"/>
            <a:ext cx="11605591" cy="1855305"/>
          </a:xfrm>
        </p:spPr>
        <p:txBody>
          <a:bodyPr>
            <a:normAutofit/>
          </a:bodyPr>
          <a:lstStyle/>
          <a:p>
            <a:r>
              <a:rPr lang="en-IN" sz="1800" b="1" dirty="0" err="1"/>
              <a:t>Ans</a:t>
            </a:r>
            <a:r>
              <a:rPr lang="en-IN" sz="1800" b="1" dirty="0"/>
              <a:t> = </a:t>
            </a:r>
            <a:br>
              <a:rPr lang="en-IN" sz="1800" b="1" dirty="0"/>
            </a:br>
            <a:r>
              <a:rPr lang="en-IN" sz="1800" b="1" dirty="0"/>
              <a:t/>
            </a:r>
            <a:br>
              <a:rPr lang="en-IN" sz="1800" b="1" dirty="0"/>
            </a:br>
            <a:r>
              <a:rPr lang="en-IN" sz="1800" b="1" dirty="0"/>
              <a:t/>
            </a:r>
            <a:br>
              <a:rPr lang="en-IN" sz="1800" b="1" dirty="0"/>
            </a:br>
            <a:endParaRPr lang="en-IN" sz="18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625" y="0"/>
            <a:ext cx="11274288" cy="3498574"/>
          </a:xfrm>
          <a:prstGeom prst="rect">
            <a:avLst/>
          </a:prstGeom>
        </p:spPr>
      </p:pic>
      <p:pic>
        <p:nvPicPr>
          <p:cNvPr id="5" name="Picture 4"/>
          <p:cNvPicPr>
            <a:picLocks noChangeAspect="1"/>
          </p:cNvPicPr>
          <p:nvPr/>
        </p:nvPicPr>
        <p:blipFill>
          <a:blip r:embed="rId3"/>
          <a:stretch>
            <a:fillRect/>
          </a:stretch>
        </p:blipFill>
        <p:spPr>
          <a:xfrm>
            <a:off x="69575" y="1044439"/>
            <a:ext cx="5924550" cy="3390900"/>
          </a:xfrm>
          <a:prstGeom prst="rect">
            <a:avLst/>
          </a:prstGeom>
        </p:spPr>
      </p:pic>
    </p:spTree>
    <p:extLst>
      <p:ext uri="{BB962C8B-B14F-4D97-AF65-F5344CB8AC3E}">
        <p14:creationId xmlns:p14="http://schemas.microsoft.com/office/powerpoint/2010/main" val="26739113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773" y="-1"/>
            <a:ext cx="11860696" cy="3154018"/>
          </a:xfrm>
          <a:prstGeom prst="rect">
            <a:avLst/>
          </a:prstGeom>
        </p:spPr>
      </p:pic>
    </p:spTree>
    <p:extLst>
      <p:ext uri="{BB962C8B-B14F-4D97-AF65-F5344CB8AC3E}">
        <p14:creationId xmlns:p14="http://schemas.microsoft.com/office/powerpoint/2010/main" val="8152131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0696" y="119269"/>
            <a:ext cx="9528522" cy="2685714"/>
          </a:xfrm>
          <a:prstGeom prst="rect">
            <a:avLst/>
          </a:prstGeom>
        </p:spPr>
      </p:pic>
      <p:sp>
        <p:nvSpPr>
          <p:cNvPr id="5" name="Title 4"/>
          <p:cNvSpPr>
            <a:spLocks noGrp="1"/>
          </p:cNvSpPr>
          <p:nvPr>
            <p:ph type="title"/>
          </p:nvPr>
        </p:nvSpPr>
        <p:spPr/>
        <p:txBody>
          <a:bodyPr/>
          <a:lstStyle/>
          <a:p>
            <a:endParaRPr lang="en-US"/>
          </a:p>
        </p:txBody>
      </p:sp>
    </p:spTree>
    <p:extLst>
      <p:ext uri="{BB962C8B-B14F-4D97-AF65-F5344CB8AC3E}">
        <p14:creationId xmlns:p14="http://schemas.microsoft.com/office/powerpoint/2010/main" val="2621543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11757" y="6506817"/>
            <a:ext cx="7381460" cy="106018"/>
          </a:xfrm>
        </p:spPr>
        <p:txBody>
          <a:bodyPr>
            <a:normAutofit fontScale="90000"/>
          </a:bodyPr>
          <a:lstStyle/>
          <a:p>
            <a:r>
              <a:rPr lang="en-IN" sz="1800" b="1" dirty="0" err="1"/>
              <a:t>Ans</a:t>
            </a:r>
            <a:r>
              <a:rPr lang="en-IN" sz="1800" b="1" dirty="0"/>
              <a:t> = </a:t>
            </a:r>
            <a:br>
              <a:rPr lang="en-IN" sz="1800" b="1" dirty="0"/>
            </a:br>
            <a:r>
              <a:rPr lang="en-IN" sz="1800" b="1" dirty="0"/>
              <a:t/>
            </a:r>
            <a:br>
              <a:rPr lang="en-IN" sz="1800" b="1" dirty="0"/>
            </a:br>
            <a:r>
              <a:rPr lang="en-IN" sz="1800" b="1" dirty="0"/>
              <a:t/>
            </a:r>
            <a:br>
              <a:rPr lang="en-IN" sz="1800" b="1" dirty="0"/>
            </a:br>
            <a:endParaRPr lang="en-IN" sz="1800"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64" y="521831"/>
            <a:ext cx="11940853" cy="5897217"/>
          </a:xfrm>
          <a:prstGeom prst="rect">
            <a:avLst/>
          </a:prstGeom>
        </p:spPr>
      </p:pic>
      <p:pic>
        <p:nvPicPr>
          <p:cNvPr id="5" name="Picture 4"/>
          <p:cNvPicPr>
            <a:picLocks noChangeAspect="1"/>
          </p:cNvPicPr>
          <p:nvPr/>
        </p:nvPicPr>
        <p:blipFill>
          <a:blip r:embed="rId3"/>
          <a:stretch>
            <a:fillRect/>
          </a:stretch>
        </p:blipFill>
        <p:spPr>
          <a:xfrm>
            <a:off x="911312" y="2222431"/>
            <a:ext cx="9390279" cy="941539"/>
          </a:xfrm>
          <a:prstGeom prst="rect">
            <a:avLst/>
          </a:prstGeom>
        </p:spPr>
      </p:pic>
    </p:spTree>
    <p:extLst>
      <p:ext uri="{BB962C8B-B14F-4D97-AF65-F5344CB8AC3E}">
        <p14:creationId xmlns:p14="http://schemas.microsoft.com/office/powerpoint/2010/main" val="30666205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809" y="6347791"/>
            <a:ext cx="11635408" cy="265044"/>
          </a:xfrm>
        </p:spPr>
        <p:txBody>
          <a:bodyPr>
            <a:normAutofit fontScale="90000"/>
          </a:bodyPr>
          <a:lstStyle/>
          <a:p>
            <a:r>
              <a:rPr lang="en-IN" sz="1800" b="1" dirty="0" err="1"/>
              <a:t>Ans</a:t>
            </a:r>
            <a:r>
              <a:rPr lang="en-IN" sz="1800" b="1" dirty="0"/>
              <a:t> = </a:t>
            </a:r>
            <a:br>
              <a:rPr lang="en-IN" sz="1800" b="1" dirty="0"/>
            </a:br>
            <a:r>
              <a:rPr lang="en-IN" sz="1800" b="1" dirty="0"/>
              <a:t/>
            </a:r>
            <a:br>
              <a:rPr lang="en-IN" sz="1800" b="1" dirty="0"/>
            </a:br>
            <a:r>
              <a:rPr lang="en-IN" sz="1800" b="1" dirty="0"/>
              <a:t/>
            </a:r>
            <a:br>
              <a:rPr lang="en-IN" sz="1800" b="1" dirty="0"/>
            </a:br>
            <a:endParaRPr lang="en-IN" sz="1800"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1973725" cy="6612835"/>
          </a:xfrm>
          <a:prstGeom prst="rect">
            <a:avLst/>
          </a:prstGeom>
        </p:spPr>
      </p:pic>
    </p:spTree>
    <p:extLst>
      <p:ext uri="{BB962C8B-B14F-4D97-AF65-F5344CB8AC3E}">
        <p14:creationId xmlns:p14="http://schemas.microsoft.com/office/powerpoint/2010/main" val="3902765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28490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20703" y="229436"/>
            <a:ext cx="11149013" cy="756934"/>
          </a:xfrm>
          <a:prstGeom prst="rect">
            <a:avLst/>
          </a:prstGeom>
        </p:spPr>
        <p:txBody>
          <a:bodyPr/>
          <a:lstStyle/>
          <a:p>
            <a:r>
              <a:rPr lang="en-US" dirty="0"/>
              <a:t>Support for Single Sign-On</a:t>
            </a:r>
          </a:p>
        </p:txBody>
      </p:sp>
      <p:pic>
        <p:nvPicPr>
          <p:cNvPr id="7" name="Picture 6"/>
          <p:cNvPicPr>
            <a:picLocks/>
          </p:cNvPicPr>
          <p:nvPr/>
        </p:nvPicPr>
        <p:blipFill>
          <a:blip r:embed="rId3">
            <a:extLst>
              <a:ext uri="{28A0092B-C50C-407E-A947-70E740481C1C}">
                <a14:useLocalDpi xmlns:a14="http://schemas.microsoft.com/office/drawing/2010/main" val="0"/>
              </a:ext>
            </a:extLst>
          </a:blip>
          <a:stretch>
            <a:fillRect/>
          </a:stretch>
        </p:blipFill>
        <p:spPr>
          <a:xfrm>
            <a:off x="1588" y="893"/>
            <a:ext cx="12188825" cy="6856214"/>
          </a:xfrm>
          <a:prstGeom prst="rect">
            <a:avLst/>
          </a:prstGeom>
        </p:spPr>
      </p:pic>
      <p:sp>
        <p:nvSpPr>
          <p:cNvPr id="4" name="Rectangle 3"/>
          <p:cNvSpPr/>
          <p:nvPr/>
        </p:nvSpPr>
        <p:spPr bwMode="auto">
          <a:xfrm>
            <a:off x="1588" y="6534150"/>
            <a:ext cx="6553200" cy="32385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IN" sz="2200" dirty="0">
              <a:gradFill>
                <a:gsLst>
                  <a:gs pos="0">
                    <a:srgbClr val="FFFFFF"/>
                  </a:gs>
                  <a:gs pos="100000">
                    <a:srgbClr val="FFFFFF"/>
                  </a:gs>
                </a:gsLst>
                <a:lin ang="5400000" scaled="0"/>
              </a:gradFill>
            </a:endParaRPr>
          </a:p>
        </p:txBody>
      </p:sp>
      <p:pic>
        <p:nvPicPr>
          <p:cNvPr id="5" name="Picture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8235" y="18289"/>
            <a:ext cx="1063943"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1885975"/>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20703" y="229436"/>
            <a:ext cx="11149013" cy="756934"/>
          </a:xfrm>
          <a:prstGeom prst="rect">
            <a:avLst/>
          </a:prstGeom>
        </p:spPr>
        <p:txBody>
          <a:bodyPr/>
          <a:lstStyle/>
          <a:p>
            <a:r>
              <a:rPr lang="en-US" dirty="0"/>
              <a:t>Support for Single Sign-On</a:t>
            </a:r>
          </a:p>
        </p:txBody>
      </p:sp>
      <p:pic>
        <p:nvPicPr>
          <p:cNvPr id="7" name="Picture 6"/>
          <p:cNvPicPr>
            <a:picLocks/>
          </p:cNvPicPr>
          <p:nvPr/>
        </p:nvPicPr>
        <p:blipFill>
          <a:blip r:embed="rId3">
            <a:extLst>
              <a:ext uri="{28A0092B-C50C-407E-A947-70E740481C1C}">
                <a14:useLocalDpi xmlns:a14="http://schemas.microsoft.com/office/drawing/2010/main" val="0"/>
              </a:ext>
            </a:extLst>
          </a:blip>
          <a:stretch>
            <a:fillRect/>
          </a:stretch>
        </p:blipFill>
        <p:spPr>
          <a:xfrm>
            <a:off x="1588" y="893"/>
            <a:ext cx="12188825" cy="6856214"/>
          </a:xfrm>
          <a:prstGeom prst="rect">
            <a:avLst/>
          </a:prstGeom>
        </p:spPr>
      </p:pic>
      <p:sp>
        <p:nvSpPr>
          <p:cNvPr id="4" name="Rectangle 3"/>
          <p:cNvSpPr/>
          <p:nvPr/>
        </p:nvSpPr>
        <p:spPr bwMode="auto">
          <a:xfrm>
            <a:off x="1588" y="6534150"/>
            <a:ext cx="6553200" cy="32385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IN" sz="2200" dirty="0">
              <a:gradFill>
                <a:gsLst>
                  <a:gs pos="0">
                    <a:srgbClr val="FFFFFF"/>
                  </a:gs>
                  <a:gs pos="100000">
                    <a:srgbClr val="FFFFFF"/>
                  </a:gs>
                </a:gsLst>
                <a:lin ang="5400000" scaled="0"/>
              </a:gradFill>
            </a:endParaRPr>
          </a:p>
        </p:txBody>
      </p:sp>
      <p:pic>
        <p:nvPicPr>
          <p:cNvPr id="5" name="Picture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8235" y="18289"/>
            <a:ext cx="1063943"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1608102"/>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044" y="367716"/>
            <a:ext cx="7879889" cy="2968796"/>
          </a:xfrm>
          <a:prstGeom prst="rect">
            <a:avLst/>
          </a:prstGeom>
        </p:spPr>
      </p:pic>
      <p:sp>
        <p:nvSpPr>
          <p:cNvPr id="5" name="Rectangle 4"/>
          <p:cNvSpPr/>
          <p:nvPr/>
        </p:nvSpPr>
        <p:spPr>
          <a:xfrm>
            <a:off x="1786466" y="3666067"/>
            <a:ext cx="9440333" cy="1569660"/>
          </a:xfrm>
          <a:prstGeom prst="rect">
            <a:avLst/>
          </a:prstGeom>
        </p:spPr>
        <p:txBody>
          <a:bodyPr wrap="square">
            <a:spAutoFit/>
          </a:bodyPr>
          <a:lstStyle/>
          <a:p>
            <a:r>
              <a:rPr lang="en-US" sz="1200" dirty="0"/>
              <a:t>Explanation: * Azure AD supports two different modes for single sign-on: / Federation using standard protocols Configuring Federation-based single sign-on enables the users in your organization to be automatically signed in to a third-party </a:t>
            </a:r>
            <a:r>
              <a:rPr lang="en-US" sz="1200" dirty="0" err="1"/>
              <a:t>SaaS</a:t>
            </a:r>
            <a:r>
              <a:rPr lang="en-US" sz="1200" dirty="0"/>
              <a:t> application by Azure AD using the </a:t>
            </a:r>
            <a:r>
              <a:rPr lang="en-US" sz="1200" dirty="0" err="1"/>
              <a:t>useraccount</a:t>
            </a:r>
            <a:r>
              <a:rPr lang="en-US" sz="1200" dirty="0"/>
              <a:t> information </a:t>
            </a:r>
            <a:r>
              <a:rPr lang="en-US" sz="1200" dirty="0" err="1"/>
              <a:t>fromAzure</a:t>
            </a:r>
            <a:r>
              <a:rPr lang="en-US" sz="1200" dirty="0"/>
              <a:t> AD. / Password-based single sign-on * Support for user provisioning User provisioning enables automated user provisioning and </a:t>
            </a:r>
            <a:r>
              <a:rPr lang="en-US" sz="1200" dirty="0" err="1"/>
              <a:t>deprovisioning</a:t>
            </a:r>
            <a:r>
              <a:rPr lang="en-US" sz="1200" dirty="0"/>
              <a:t> of accounts in </a:t>
            </a:r>
            <a:r>
              <a:rPr lang="en-US" sz="1200" dirty="0" err="1"/>
              <a:t>thirdparty</a:t>
            </a:r>
            <a:r>
              <a:rPr lang="en-US" sz="1200" dirty="0"/>
              <a:t> </a:t>
            </a:r>
            <a:r>
              <a:rPr lang="en-US" sz="1200" dirty="0" err="1"/>
              <a:t>SaaS</a:t>
            </a:r>
            <a:r>
              <a:rPr lang="en-US" sz="1200" dirty="0"/>
              <a:t> applications from within the Azure Management Portal, using your Windows Server Active Directory or Azure AD identity information. When a user is given permissions in Azure AD for one of these applications, an account can be automatically created (provisioned) in the target </a:t>
            </a:r>
            <a:r>
              <a:rPr lang="en-US" sz="1200" dirty="0" err="1"/>
              <a:t>SaaSapplication</a:t>
            </a:r>
            <a:r>
              <a:rPr lang="en-US" sz="1200" dirty="0"/>
              <a:t>.</a:t>
            </a:r>
            <a:endParaRPr lang="en-US" sz="1200" dirty="0" smtClean="0"/>
          </a:p>
          <a:p>
            <a:endParaRPr lang="en-US" sz="1200" dirty="0"/>
          </a:p>
          <a:p>
            <a:endParaRPr lang="en-US" sz="1200" dirty="0"/>
          </a:p>
        </p:txBody>
      </p:sp>
    </p:spTree>
    <p:extLst>
      <p:ext uri="{BB962C8B-B14F-4D97-AF65-F5344CB8AC3E}">
        <p14:creationId xmlns:p14="http://schemas.microsoft.com/office/powerpoint/2010/main" val="41649386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09" y="0"/>
            <a:ext cx="12138123" cy="3578087"/>
          </a:xfrm>
          <a:prstGeom prst="rect">
            <a:avLst/>
          </a:prstGeom>
        </p:spPr>
      </p:pic>
    </p:spTree>
    <p:extLst>
      <p:ext uri="{BB962C8B-B14F-4D97-AF65-F5344CB8AC3E}">
        <p14:creationId xmlns:p14="http://schemas.microsoft.com/office/powerpoint/2010/main" val="342980920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876" y="4276035"/>
            <a:ext cx="11635408" cy="609600"/>
          </a:xfrm>
        </p:spPr>
        <p:txBody>
          <a:bodyPr>
            <a:normAutofit fontScale="90000"/>
          </a:bodyPr>
          <a:lstStyle/>
          <a:p>
            <a:r>
              <a:rPr lang="en-IN" sz="1800" b="1" dirty="0"/>
              <a:t/>
            </a:r>
            <a:br>
              <a:rPr lang="en-IN" sz="1800" b="1" dirty="0"/>
            </a:br>
            <a:r>
              <a:rPr lang="en-IN" sz="1800" b="1" dirty="0"/>
              <a:t/>
            </a:r>
            <a:br>
              <a:rPr lang="en-IN" sz="1800" b="1" dirty="0"/>
            </a:br>
            <a:r>
              <a:rPr lang="en-IN" sz="1800" b="1" dirty="0"/>
              <a:t/>
            </a:r>
            <a:br>
              <a:rPr lang="en-IN" sz="1800" b="1" dirty="0"/>
            </a:br>
            <a:endParaRPr lang="en-IN" sz="1800"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809" y="119269"/>
            <a:ext cx="10255064" cy="3753142"/>
          </a:xfrm>
          <a:prstGeom prst="rect">
            <a:avLst/>
          </a:prstGeom>
        </p:spPr>
      </p:pic>
    </p:spTree>
    <p:extLst>
      <p:ext uri="{BB962C8B-B14F-4D97-AF65-F5344CB8AC3E}">
        <p14:creationId xmlns:p14="http://schemas.microsoft.com/office/powerpoint/2010/main" val="31915166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625" y="3664916"/>
            <a:ext cx="11605591" cy="2947919"/>
          </a:xfrm>
        </p:spPr>
        <p:txBody>
          <a:bodyPr>
            <a:normAutofit/>
          </a:bodyPr>
          <a:lstStyle/>
          <a:p>
            <a:r>
              <a:rPr lang="en-IN" sz="1800" b="1" dirty="0"/>
              <a:t/>
            </a:r>
            <a:br>
              <a:rPr lang="en-IN" sz="1800" b="1" dirty="0"/>
            </a:br>
            <a:r>
              <a:rPr lang="en-IN" sz="1800" b="1" dirty="0"/>
              <a:t/>
            </a:r>
            <a:br>
              <a:rPr lang="en-IN" sz="1800" b="1" dirty="0"/>
            </a:br>
            <a:r>
              <a:rPr lang="en-IN" sz="1800" b="1" dirty="0"/>
              <a:t/>
            </a:r>
            <a:br>
              <a:rPr lang="en-IN" sz="1800" b="1" dirty="0"/>
            </a:br>
            <a:endParaRPr lang="en-IN" sz="1800"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625" y="302450"/>
            <a:ext cx="10956236" cy="2454002"/>
          </a:xfrm>
          <a:prstGeom prst="rect">
            <a:avLst/>
          </a:prstGeom>
        </p:spPr>
      </p:pic>
    </p:spTree>
    <p:extLst>
      <p:ext uri="{BB962C8B-B14F-4D97-AF65-F5344CB8AC3E}">
        <p14:creationId xmlns:p14="http://schemas.microsoft.com/office/powerpoint/2010/main" val="296453509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270" y="106584"/>
            <a:ext cx="11669907" cy="3140199"/>
          </a:xfrm>
          <a:prstGeom prst="rect">
            <a:avLst/>
          </a:prstGeom>
        </p:spPr>
      </p:pic>
      <p:sp>
        <p:nvSpPr>
          <p:cNvPr id="6" name="Title 5"/>
          <p:cNvSpPr>
            <a:spLocks noGrp="1"/>
          </p:cNvSpPr>
          <p:nvPr>
            <p:ph type="title"/>
          </p:nvPr>
        </p:nvSpPr>
        <p:spPr/>
        <p:txBody>
          <a:bodyPr/>
          <a:lstStyle/>
          <a:p>
            <a:endParaRPr lang="en-US"/>
          </a:p>
        </p:txBody>
      </p:sp>
    </p:spTree>
    <p:extLst>
      <p:ext uri="{BB962C8B-B14F-4D97-AF65-F5344CB8AC3E}">
        <p14:creationId xmlns:p14="http://schemas.microsoft.com/office/powerpoint/2010/main" val="230207645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61275" cy="3723861"/>
          </a:xfrm>
          <a:prstGeom prst="rect">
            <a:avLst/>
          </a:prstGeom>
        </p:spPr>
      </p:pic>
      <p:sp>
        <p:nvSpPr>
          <p:cNvPr id="4" name="Title 3"/>
          <p:cNvSpPr>
            <a:spLocks noGrp="1"/>
          </p:cNvSpPr>
          <p:nvPr>
            <p:ph type="title"/>
          </p:nvPr>
        </p:nvSpPr>
        <p:spPr/>
        <p:txBody>
          <a:bodyPr/>
          <a:lstStyle/>
          <a:p>
            <a:endParaRPr lang="en-US"/>
          </a:p>
        </p:txBody>
      </p:sp>
    </p:spTree>
    <p:extLst>
      <p:ext uri="{BB962C8B-B14F-4D97-AF65-F5344CB8AC3E}">
        <p14:creationId xmlns:p14="http://schemas.microsoft.com/office/powerpoint/2010/main" val="27629872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15339" y="5420139"/>
            <a:ext cx="6877878" cy="1192696"/>
          </a:xfrm>
        </p:spPr>
        <p:txBody>
          <a:bodyPr>
            <a:normAutofit/>
          </a:bodyPr>
          <a:lstStyle/>
          <a:p>
            <a:r>
              <a:rPr lang="en-IN" sz="1800" b="1" dirty="0" err="1"/>
              <a:t>Ans</a:t>
            </a:r>
            <a:r>
              <a:rPr lang="en-IN" sz="1800" b="1" dirty="0"/>
              <a:t> =  </a:t>
            </a:r>
            <a:br>
              <a:rPr lang="en-IN" sz="1800" b="1" dirty="0"/>
            </a:br>
            <a:r>
              <a:rPr lang="en-IN" sz="1800" b="1" dirty="0"/>
              <a:t/>
            </a:r>
            <a:br>
              <a:rPr lang="en-IN" sz="1800" b="1" dirty="0"/>
            </a:br>
            <a:r>
              <a:rPr lang="en-IN" sz="1800" b="1" dirty="0"/>
              <a:t/>
            </a:r>
            <a:br>
              <a:rPr lang="en-IN" sz="1800" b="1" dirty="0"/>
            </a:br>
            <a:endParaRPr lang="en-IN" sz="1800"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960" y="158744"/>
            <a:ext cx="8409524" cy="2114286"/>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960" y="1986952"/>
            <a:ext cx="4357025" cy="3433187"/>
          </a:xfrm>
          <a:prstGeom prst="rect">
            <a:avLst/>
          </a:prstGeom>
        </p:spPr>
      </p:pic>
    </p:spTree>
    <p:extLst>
      <p:ext uri="{BB962C8B-B14F-4D97-AF65-F5344CB8AC3E}">
        <p14:creationId xmlns:p14="http://schemas.microsoft.com/office/powerpoint/2010/main" val="129935145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151" y="286379"/>
            <a:ext cx="12080849" cy="2957861"/>
          </a:xfrm>
          <a:prstGeom prst="rect">
            <a:avLst/>
          </a:prstGeom>
        </p:spPr>
      </p:pic>
    </p:spTree>
    <p:extLst>
      <p:ext uri="{BB962C8B-B14F-4D97-AF65-F5344CB8AC3E}">
        <p14:creationId xmlns:p14="http://schemas.microsoft.com/office/powerpoint/2010/main" val="241677960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51513" y="6255025"/>
            <a:ext cx="7341703" cy="357809"/>
          </a:xfrm>
        </p:spPr>
        <p:txBody>
          <a:bodyPr>
            <a:normAutofit fontScale="90000"/>
          </a:bodyPr>
          <a:lstStyle/>
          <a:p>
            <a:r>
              <a:rPr lang="en-IN" sz="1800" b="1" dirty="0" err="1"/>
              <a:t>Ans</a:t>
            </a:r>
            <a:r>
              <a:rPr lang="en-IN" sz="1800" b="1" dirty="0"/>
              <a:t> = </a:t>
            </a:r>
            <a:br>
              <a:rPr lang="en-IN" sz="1800" b="1" dirty="0"/>
            </a:br>
            <a:r>
              <a:rPr lang="en-IN" sz="1800" b="1" dirty="0"/>
              <a:t/>
            </a:r>
            <a:br>
              <a:rPr lang="en-IN" sz="1800" b="1" dirty="0"/>
            </a:br>
            <a:r>
              <a:rPr lang="en-IN" sz="1800" b="1" dirty="0"/>
              <a:t/>
            </a:r>
            <a:br>
              <a:rPr lang="en-IN" sz="1800" b="1" dirty="0"/>
            </a:br>
            <a:endParaRPr lang="en-IN" sz="1800"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66667" cy="5128591"/>
          </a:xfrm>
          <a:prstGeom prst="rect">
            <a:avLst/>
          </a:prstGeom>
        </p:spPr>
      </p:pic>
    </p:spTree>
    <p:extLst>
      <p:ext uri="{BB962C8B-B14F-4D97-AF65-F5344CB8AC3E}">
        <p14:creationId xmlns:p14="http://schemas.microsoft.com/office/powerpoint/2010/main" val="412405599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809" y="2627062"/>
            <a:ext cx="11635408" cy="1192696"/>
          </a:xfrm>
        </p:spPr>
        <p:txBody>
          <a:bodyPr>
            <a:normAutofit fontScale="90000"/>
          </a:bodyPr>
          <a:lstStyle/>
          <a:p>
            <a:r>
              <a:rPr lang="en-IN" sz="1800" b="1" dirty="0"/>
              <a:t/>
            </a:r>
            <a:br>
              <a:rPr lang="en-IN" sz="1800" b="1" dirty="0"/>
            </a:br>
            <a:r>
              <a:rPr lang="en-IN" sz="1800" b="1" dirty="0"/>
              <a:t/>
            </a:r>
            <a:br>
              <a:rPr lang="en-IN" sz="1800" b="1" dirty="0"/>
            </a:br>
            <a:r>
              <a:rPr lang="en-IN" sz="1800" dirty="0"/>
              <a:t>The term "software multitenancy" refers to a software architecture in which a single instance of software runs on a server and serves </a:t>
            </a:r>
            <a:r>
              <a:rPr lang="en-IN" sz="1800" b="1" dirty="0"/>
              <a:t>multiple tenants</a:t>
            </a:r>
            <a:r>
              <a:rPr lang="en-IN" sz="1800" dirty="0"/>
              <a:t>. A </a:t>
            </a:r>
            <a:r>
              <a:rPr lang="en-IN" sz="1800" b="1" dirty="0"/>
              <a:t>tenant</a:t>
            </a:r>
            <a:r>
              <a:rPr lang="en-IN" sz="1800" dirty="0"/>
              <a:t> is a group of users who share a common access with specific privileges to the software instance</a:t>
            </a:r>
            <a:r>
              <a:rPr lang="en-IN" sz="1800" b="1" dirty="0"/>
              <a:t> </a:t>
            </a:r>
            <a:br>
              <a:rPr lang="en-IN" sz="1800" b="1" dirty="0"/>
            </a:br>
            <a:r>
              <a:rPr lang="en-IN" sz="1800" b="1" dirty="0"/>
              <a:t/>
            </a:r>
            <a:br>
              <a:rPr lang="en-IN" sz="1800" b="1" dirty="0"/>
            </a:br>
            <a:r>
              <a:rPr lang="en-IN" sz="1800" b="1" dirty="0"/>
              <a:t/>
            </a:r>
            <a:br>
              <a:rPr lang="en-IN" sz="1800" b="1" dirty="0"/>
            </a:br>
            <a:endParaRPr lang="en-IN" sz="1800" b="1"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809" y="0"/>
            <a:ext cx="7673008" cy="2428571"/>
          </a:xfrm>
          <a:prstGeom prst="rect">
            <a:avLst/>
          </a:prstGeom>
        </p:spPr>
      </p:pic>
      <p:sp>
        <p:nvSpPr>
          <p:cNvPr id="4" name="Rectangle 3"/>
          <p:cNvSpPr/>
          <p:nvPr/>
        </p:nvSpPr>
        <p:spPr>
          <a:xfrm>
            <a:off x="357809" y="3819758"/>
            <a:ext cx="11712632" cy="1200329"/>
          </a:xfrm>
          <a:prstGeom prst="rect">
            <a:avLst/>
          </a:prstGeom>
        </p:spPr>
        <p:txBody>
          <a:bodyPr wrap="square">
            <a:spAutoFit/>
          </a:bodyPr>
          <a:lstStyle/>
          <a:p>
            <a:r>
              <a:rPr lang="en-US" sz="1200" dirty="0"/>
              <a:t>Explanation: * When you get deeper into using Windows Azure Active Directory, you’ll run into new terminology. For instance, is called "directory" is also referred to as a Windows Azure AD Tenant or simply as "tenant." This stems from the fact that WAAD ()Windows Azure Active Directory is a shared service for many clients. In this service, every client gets its own separate space for which the client is the tenant. In the case of WAAD this space is a directory. This might be a little confusing, because you can create multiple directories, in WAAD terminology multiple tenants, even though you are a single client. * Multitenant Applications in Azure A multitenant application is a shared resource that allows separate users, or "tenants," to view the application as though it was their own. A typical scenario that lends itself to a multitenant application is one in which all users of the application may wish to customize the user experience but otherwise have the same basic business requirements. Examples of large multitenant applications are Office365, Outlook.com, and visualstudio.com.</a:t>
            </a:r>
          </a:p>
        </p:txBody>
      </p:sp>
    </p:spTree>
    <p:extLst>
      <p:ext uri="{BB962C8B-B14F-4D97-AF65-F5344CB8AC3E}">
        <p14:creationId xmlns:p14="http://schemas.microsoft.com/office/powerpoint/2010/main" val="284483654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9605"/>
            <a:ext cx="11577929" cy="3189699"/>
          </a:xfrm>
          <a:prstGeom prst="rect">
            <a:avLst/>
          </a:prstGeom>
        </p:spPr>
      </p:pic>
      <p:sp>
        <p:nvSpPr>
          <p:cNvPr id="4" name="Rectangle 3"/>
          <p:cNvSpPr/>
          <p:nvPr/>
        </p:nvSpPr>
        <p:spPr>
          <a:xfrm>
            <a:off x="2125210" y="4775244"/>
            <a:ext cx="8998591" cy="646331"/>
          </a:xfrm>
          <a:prstGeom prst="rect">
            <a:avLst/>
          </a:prstGeom>
        </p:spPr>
        <p:txBody>
          <a:bodyPr wrap="square">
            <a:spAutoFit/>
          </a:bodyPr>
          <a:lstStyle/>
          <a:p>
            <a:r>
              <a:rPr lang="en-US" dirty="0"/>
              <a:t>https://docs.microsoft.com/en-us/azure/active-directory/active-directory-saas-google-apps-tutorial</a:t>
            </a:r>
          </a:p>
        </p:txBody>
      </p:sp>
      <p:sp>
        <p:nvSpPr>
          <p:cNvPr id="5" name="Title 4"/>
          <p:cNvSpPr>
            <a:spLocks noGrp="1"/>
          </p:cNvSpPr>
          <p:nvPr>
            <p:ph type="title"/>
          </p:nvPr>
        </p:nvSpPr>
        <p:spPr/>
        <p:txBody>
          <a:bodyPr/>
          <a:lstStyle/>
          <a:p>
            <a:endParaRPr lang="en-US"/>
          </a:p>
        </p:txBody>
      </p:sp>
    </p:spTree>
    <p:extLst>
      <p:ext uri="{BB962C8B-B14F-4D97-AF65-F5344CB8AC3E}">
        <p14:creationId xmlns:p14="http://schemas.microsoft.com/office/powerpoint/2010/main" val="419200227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Integrate the App with Azure AD</a:t>
            </a:r>
            <a:endParaRPr lang="en-US" dirty="0"/>
          </a:p>
        </p:txBody>
      </p:sp>
    </p:spTree>
    <p:extLst>
      <p:ext uri="{BB962C8B-B14F-4D97-AF65-F5344CB8AC3E}">
        <p14:creationId xmlns:p14="http://schemas.microsoft.com/office/powerpoint/2010/main" val="18074688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049" y="141872"/>
            <a:ext cx="11227622" cy="3820528"/>
          </a:xfrm>
          <a:prstGeom prst="rect">
            <a:avLst/>
          </a:prstGeom>
        </p:spPr>
      </p:pic>
    </p:spTree>
    <p:extLst>
      <p:ext uri="{BB962C8B-B14F-4D97-AF65-F5344CB8AC3E}">
        <p14:creationId xmlns:p14="http://schemas.microsoft.com/office/powerpoint/2010/main" val="290893105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0435" y="6003235"/>
            <a:ext cx="9342782" cy="609600"/>
          </a:xfrm>
        </p:spPr>
        <p:txBody>
          <a:bodyPr>
            <a:normAutofit fontScale="90000"/>
          </a:bodyPr>
          <a:lstStyle/>
          <a:p>
            <a:r>
              <a:rPr lang="en-IN" sz="1800" b="1" dirty="0" err="1"/>
              <a:t>Ans</a:t>
            </a:r>
            <a:r>
              <a:rPr lang="en-IN" sz="1800" b="1" dirty="0"/>
              <a:t> = </a:t>
            </a:r>
            <a:br>
              <a:rPr lang="en-IN" sz="1800" b="1" dirty="0"/>
            </a:br>
            <a:r>
              <a:rPr lang="en-IN" sz="1800" b="1" dirty="0"/>
              <a:t/>
            </a:r>
            <a:br>
              <a:rPr lang="en-IN" sz="1800" b="1" dirty="0"/>
            </a:br>
            <a:r>
              <a:rPr lang="en-IN" sz="1800" b="1" dirty="0"/>
              <a:t/>
            </a:r>
            <a:br>
              <a:rPr lang="en-IN" sz="1800" b="1" dirty="0"/>
            </a:br>
            <a:endParaRPr lang="en-IN" sz="1800"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370" y="243646"/>
            <a:ext cx="11447854" cy="3135658"/>
          </a:xfrm>
          <a:prstGeom prst="rect">
            <a:avLst/>
          </a:prstGeom>
        </p:spPr>
      </p:pic>
      <p:pic>
        <p:nvPicPr>
          <p:cNvPr id="4" name="Picture 3"/>
          <p:cNvPicPr>
            <a:picLocks noChangeAspect="1"/>
          </p:cNvPicPr>
          <p:nvPr/>
        </p:nvPicPr>
        <p:blipFill>
          <a:blip r:embed="rId3"/>
          <a:stretch>
            <a:fillRect/>
          </a:stretch>
        </p:blipFill>
        <p:spPr>
          <a:xfrm>
            <a:off x="357809" y="1316106"/>
            <a:ext cx="6803039" cy="2599274"/>
          </a:xfrm>
          <a:prstGeom prst="rect">
            <a:avLst/>
          </a:prstGeom>
        </p:spPr>
      </p:pic>
    </p:spTree>
    <p:extLst>
      <p:ext uri="{BB962C8B-B14F-4D97-AF65-F5344CB8AC3E}">
        <p14:creationId xmlns:p14="http://schemas.microsoft.com/office/powerpoint/2010/main" val="12220795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75" y="241800"/>
            <a:ext cx="10477174" cy="3389295"/>
          </a:xfrm>
          <a:prstGeom prst="rect">
            <a:avLst/>
          </a:prstGeom>
        </p:spPr>
      </p:pic>
      <p:sp>
        <p:nvSpPr>
          <p:cNvPr id="4" name="Rectangle 3"/>
          <p:cNvSpPr/>
          <p:nvPr/>
        </p:nvSpPr>
        <p:spPr>
          <a:xfrm>
            <a:off x="5043055" y="2244404"/>
            <a:ext cx="6096000" cy="2585323"/>
          </a:xfrm>
          <a:prstGeom prst="rect">
            <a:avLst/>
          </a:prstGeom>
        </p:spPr>
        <p:txBody>
          <a:bodyPr>
            <a:spAutoFit/>
          </a:bodyPr>
          <a:lstStyle/>
          <a:p>
            <a:r>
              <a:rPr lang="en-US" dirty="0"/>
              <a:t>REST </a:t>
            </a:r>
            <a:r>
              <a:rPr lang="en-US" dirty="0" err="1"/>
              <a:t>APIendpoints.Applications</a:t>
            </a:r>
            <a:r>
              <a:rPr lang="en-US" dirty="0"/>
              <a:t> can use the Graph API to perform create, read, update, and delete (CRUD) </a:t>
            </a:r>
            <a:r>
              <a:rPr lang="en-US" dirty="0" err="1"/>
              <a:t>operationson</a:t>
            </a:r>
            <a:r>
              <a:rPr lang="en-US" dirty="0"/>
              <a:t> directory data and objects. For example, the Graph API supports the following common operations for a user object: / Create a new user in a directory / </a:t>
            </a:r>
            <a:r>
              <a:rPr lang="en-US" dirty="0" err="1"/>
              <a:t>Geta</a:t>
            </a:r>
            <a:r>
              <a:rPr lang="en-US" dirty="0"/>
              <a:t> user’s detailed properties, such as their groups / Update a user’s properties, such as their location and phone number, or change their password / Check a user’s group membership for role-based access / Disable a user’s account or delete it entirely</a:t>
            </a:r>
          </a:p>
        </p:txBody>
      </p:sp>
      <p:sp>
        <p:nvSpPr>
          <p:cNvPr id="5" name="Title 4"/>
          <p:cNvSpPr>
            <a:spLocks noGrp="1"/>
          </p:cNvSpPr>
          <p:nvPr>
            <p:ph type="title"/>
          </p:nvPr>
        </p:nvSpPr>
        <p:spPr/>
        <p:txBody>
          <a:bodyPr/>
          <a:lstStyle/>
          <a:p>
            <a:endParaRPr lang="en-US"/>
          </a:p>
        </p:txBody>
      </p:sp>
    </p:spTree>
    <p:extLst>
      <p:ext uri="{BB962C8B-B14F-4D97-AF65-F5344CB8AC3E}">
        <p14:creationId xmlns:p14="http://schemas.microsoft.com/office/powerpoint/2010/main" val="329076090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0972"/>
            <a:ext cx="11816539" cy="3225323"/>
          </a:xfrm>
          <a:prstGeom prst="rect">
            <a:avLst/>
          </a:prstGeom>
        </p:spPr>
      </p:pic>
    </p:spTree>
    <p:extLst>
      <p:ext uri="{BB962C8B-B14F-4D97-AF65-F5344CB8AC3E}">
        <p14:creationId xmlns:p14="http://schemas.microsoft.com/office/powerpoint/2010/main" val="142573826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20703" y="229436"/>
            <a:ext cx="11149013" cy="756934"/>
          </a:xfrm>
          <a:prstGeom prst="rect">
            <a:avLst/>
          </a:prstGeom>
        </p:spPr>
        <p:txBody>
          <a:bodyPr/>
          <a:lstStyle/>
          <a:p>
            <a:r>
              <a:rPr lang="en-US" dirty="0"/>
              <a:t>Current Situation </a:t>
            </a:r>
          </a:p>
        </p:txBody>
      </p:sp>
      <p:pic>
        <p:nvPicPr>
          <p:cNvPr id="8" name="Picture 7"/>
          <p:cNvPicPr>
            <a:picLocks/>
          </p:cNvPicPr>
          <p:nvPr/>
        </p:nvPicPr>
        <p:blipFill>
          <a:blip r:embed="rId3">
            <a:extLst>
              <a:ext uri="{28A0092B-C50C-407E-A947-70E740481C1C}">
                <a14:useLocalDpi xmlns:a14="http://schemas.microsoft.com/office/drawing/2010/main" val="0"/>
              </a:ext>
            </a:extLst>
          </a:blip>
          <a:stretch>
            <a:fillRect/>
          </a:stretch>
        </p:blipFill>
        <p:spPr>
          <a:xfrm>
            <a:off x="1588" y="893"/>
            <a:ext cx="12188825" cy="6856214"/>
          </a:xfrm>
          <a:prstGeom prst="rect">
            <a:avLst/>
          </a:prstGeom>
        </p:spPr>
      </p:pic>
      <p:sp>
        <p:nvSpPr>
          <p:cNvPr id="4" name="Rectangle 3"/>
          <p:cNvSpPr/>
          <p:nvPr/>
        </p:nvSpPr>
        <p:spPr bwMode="auto">
          <a:xfrm>
            <a:off x="1588" y="6534150"/>
            <a:ext cx="6553200" cy="32385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IN" sz="2200" dirty="0">
              <a:gradFill>
                <a:gsLst>
                  <a:gs pos="0">
                    <a:srgbClr val="FFFFFF"/>
                  </a:gs>
                  <a:gs pos="100000">
                    <a:srgbClr val="FFFFFF"/>
                  </a:gs>
                </a:gsLst>
                <a:lin ang="5400000" scaled="0"/>
              </a:gradFill>
            </a:endParaRPr>
          </a:p>
        </p:txBody>
      </p:sp>
      <p:pic>
        <p:nvPicPr>
          <p:cNvPr id="5" name="Picture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8235" y="18289"/>
            <a:ext cx="1063943"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6103048"/>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20703" y="229436"/>
            <a:ext cx="11149013" cy="756934"/>
          </a:xfrm>
          <a:prstGeom prst="rect">
            <a:avLst/>
          </a:prstGeom>
        </p:spPr>
        <p:txBody>
          <a:bodyPr/>
          <a:lstStyle/>
          <a:p>
            <a:r>
              <a:rPr lang="en-US" dirty="0"/>
              <a:t>Azure AD Application Proxy</a:t>
            </a:r>
          </a:p>
        </p:txBody>
      </p:sp>
      <p:pic>
        <p:nvPicPr>
          <p:cNvPr id="6" name="Picture 5"/>
          <p:cNvPicPr>
            <a:picLocks/>
          </p:cNvPicPr>
          <p:nvPr/>
        </p:nvPicPr>
        <p:blipFill>
          <a:blip r:embed="rId3">
            <a:extLst>
              <a:ext uri="{28A0092B-C50C-407E-A947-70E740481C1C}">
                <a14:useLocalDpi xmlns:a14="http://schemas.microsoft.com/office/drawing/2010/main" val="0"/>
              </a:ext>
            </a:extLst>
          </a:blip>
          <a:stretch>
            <a:fillRect/>
          </a:stretch>
        </p:blipFill>
        <p:spPr>
          <a:xfrm>
            <a:off x="1588" y="893"/>
            <a:ext cx="12188825" cy="6856214"/>
          </a:xfrm>
          <a:prstGeom prst="rect">
            <a:avLst/>
          </a:prstGeom>
        </p:spPr>
      </p:pic>
      <p:sp>
        <p:nvSpPr>
          <p:cNvPr id="4" name="Rectangle 3"/>
          <p:cNvSpPr/>
          <p:nvPr/>
        </p:nvSpPr>
        <p:spPr bwMode="auto">
          <a:xfrm>
            <a:off x="1588" y="6534150"/>
            <a:ext cx="6553200" cy="32385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IN" sz="2200" dirty="0">
              <a:gradFill>
                <a:gsLst>
                  <a:gs pos="0">
                    <a:srgbClr val="FFFFFF"/>
                  </a:gs>
                  <a:gs pos="100000">
                    <a:srgbClr val="FFFFFF"/>
                  </a:gs>
                </a:gsLst>
                <a:lin ang="5400000" scaled="0"/>
              </a:gradFill>
            </a:endParaRPr>
          </a:p>
        </p:txBody>
      </p:sp>
      <p:pic>
        <p:nvPicPr>
          <p:cNvPr id="5" name="Picture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8235" y="18289"/>
            <a:ext cx="1063943"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710326"/>
      </p:ext>
    </p:extLst>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20703" y="229436"/>
            <a:ext cx="11149013" cy="756934"/>
          </a:xfrm>
          <a:prstGeom prst="rect">
            <a:avLst/>
          </a:prstGeom>
        </p:spPr>
        <p:txBody>
          <a:bodyPr/>
          <a:lstStyle/>
          <a:p>
            <a:r>
              <a:rPr lang="en-US" dirty="0"/>
              <a:t>Azure AD Multi-Factor Authentication</a:t>
            </a:r>
          </a:p>
        </p:txBody>
      </p:sp>
      <p:pic>
        <p:nvPicPr>
          <p:cNvPr id="5" name="Picture 4"/>
          <p:cNvPicPr>
            <a:picLocks/>
          </p:cNvPicPr>
          <p:nvPr/>
        </p:nvPicPr>
        <p:blipFill>
          <a:blip r:embed="rId2">
            <a:extLst>
              <a:ext uri="{28A0092B-C50C-407E-A947-70E740481C1C}">
                <a14:useLocalDpi xmlns:a14="http://schemas.microsoft.com/office/drawing/2010/main" val="0"/>
              </a:ext>
            </a:extLst>
          </a:blip>
          <a:stretch>
            <a:fillRect/>
          </a:stretch>
        </p:blipFill>
        <p:spPr>
          <a:xfrm>
            <a:off x="1588" y="893"/>
            <a:ext cx="12188825" cy="6856214"/>
          </a:xfrm>
          <a:prstGeom prst="rect">
            <a:avLst/>
          </a:prstGeom>
        </p:spPr>
      </p:pic>
      <p:sp>
        <p:nvSpPr>
          <p:cNvPr id="4" name="Rectangle 3"/>
          <p:cNvSpPr/>
          <p:nvPr/>
        </p:nvSpPr>
        <p:spPr bwMode="auto">
          <a:xfrm>
            <a:off x="1588" y="6534150"/>
            <a:ext cx="6553200" cy="32385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IN" sz="2200" dirty="0">
              <a:gradFill>
                <a:gsLst>
                  <a:gs pos="0">
                    <a:srgbClr val="FFFFFF"/>
                  </a:gs>
                  <a:gs pos="100000">
                    <a:srgbClr val="FFFFFF"/>
                  </a:gs>
                </a:gsLst>
                <a:lin ang="5400000" scaled="0"/>
              </a:gradFill>
            </a:endParaRPr>
          </a:p>
        </p:txBody>
      </p:sp>
      <p:pic>
        <p:nvPicPr>
          <p:cNvPr id="6"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08235" y="18289"/>
            <a:ext cx="1063943" cy="35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6449205"/>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505</TotalTime>
  <Words>823</Words>
  <Application>Microsoft Office PowerPoint</Application>
  <PresentationFormat>Widescreen</PresentationFormat>
  <Paragraphs>57</Paragraphs>
  <Slides>43</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Calibri Light</vt:lpstr>
      <vt:lpstr>Segoe UI Light</vt:lpstr>
      <vt:lpstr>segoe-ui_normal</vt:lpstr>
      <vt:lpstr>Office Theme</vt:lpstr>
      <vt:lpstr>70-533 : Implementing Microsoft Azure Infrastructure Solutions </vt:lpstr>
      <vt:lpstr>70-533 : Implementing Microsoft Azure Infrastructure Solutions</vt:lpstr>
      <vt:lpstr>What is Azure Active Directory? </vt:lpstr>
      <vt:lpstr>PowerPoint Presentation</vt:lpstr>
      <vt:lpstr>Integrate an Azure with Existing Directory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Configure the Application Panel</vt:lpstr>
      <vt:lpstr>Ans =    </vt:lpstr>
      <vt:lpstr>PowerPoint Presentation</vt:lpstr>
      <vt:lpstr>PowerPoint Presentation</vt:lpstr>
      <vt:lpstr>Ans =    </vt:lpstr>
      <vt:lpstr>Ans =    </vt:lpstr>
      <vt:lpstr>PowerPoint Presentation</vt:lpstr>
      <vt:lpstr>Support for Single Sign-On</vt:lpstr>
      <vt:lpstr>Support for Single Sign-On</vt:lpstr>
      <vt:lpstr>PowerPoint Presentation</vt:lpstr>
      <vt:lpstr>PowerPoint Presentation</vt:lpstr>
      <vt:lpstr>   </vt:lpstr>
      <vt:lpstr>   </vt:lpstr>
      <vt:lpstr>PowerPoint Presentation</vt:lpstr>
      <vt:lpstr>PowerPoint Presentation</vt:lpstr>
      <vt:lpstr>Ans =     </vt:lpstr>
      <vt:lpstr>PowerPoint Presentation</vt:lpstr>
      <vt:lpstr>Ans =    </vt:lpstr>
      <vt:lpstr>  The term "software multitenancy" refers to a software architecture in which a single instance of software runs on a server and serves multiple tenants. A tenant is a group of users who share a common access with specific privileges to the software instance    </vt:lpstr>
      <vt:lpstr>PowerPoint Presentation</vt:lpstr>
      <vt:lpstr>Integrate the App with Azure AD</vt:lpstr>
      <vt:lpstr>PowerPoint Presentation</vt:lpstr>
      <vt:lpstr>Ans =    </vt:lpstr>
      <vt:lpstr>PowerPoint Presentation</vt:lpstr>
      <vt:lpstr>PowerPoint Presentation</vt:lpstr>
      <vt:lpstr>Current Situation </vt:lpstr>
      <vt:lpstr>Azure AD Application Proxy</vt:lpstr>
      <vt:lpstr>Azure AD Multi-Factor Authentication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70-533 Implementing Microsoft Azure Infrastructure Solutions </dc:title>
  <dc:creator>Suketu Nayak</dc:creator>
  <cp:lastModifiedBy>Kiran Kumar Tarlada</cp:lastModifiedBy>
  <cp:revision>139</cp:revision>
  <dcterms:created xsi:type="dcterms:W3CDTF">2017-02-16T08:21:52Z</dcterms:created>
  <dcterms:modified xsi:type="dcterms:W3CDTF">2017-04-06T03:30:58Z</dcterms:modified>
</cp:coreProperties>
</file>